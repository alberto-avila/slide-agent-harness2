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synthesizes findings from the 2026 survey of 1,240 employees. The goal is to move from descriptive data to actionable HR leadership decisions regarding our future work policy. We will focus on workforce implications, retention risk, and structural changes needed to support a hybrid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shows a clear preference for flexibility. While 64% of hybrid workers want to keep their current schedule, 22% expressed a desire for more remote days, indicating a potential need for increased flexibility options. The 54% citing commute time as a top reason for preferring remote work is a key finding, but we must ensure we do not recast this as a reason for job satisfaction.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direct indicator of retention exposure. The 29% figure is based on employees who stated they would 'likely' look for another job. We must treat this as a significant risk. The survey team recommends keeping hybrid as the default, which directly addresses this risk. We need to present this risk clearly to the leadership team.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suggests that remote work can boost productivity and reduce burnout. However, the isolation finding among fully remote staff is a major concern, suggesting that connection needs to be intentionally built into any policy. The positive trend in burnout scores is a strong indicator that our current efforts are having a positive impact.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meeting data is a clear signal of process bloat. The survey team recommends a meeting audit and 'no-meeting' focus blocks. The onboarding gap is critical; the difference between 2.6/5 (remote) and 3.9/5 (in-person) highlights the need for structured, in-person support during the initial months of employment. This is a direct action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serves as the final call to action. The key message is that balancing flexibility (the employee preference) with structure (the business need) is paramount. We recommend forming cross-functional working groups to own these initiatives. The next steps require leadership buy-in and resource allocation.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State of Work: Findings from the 2026 Survey</a:t>
            </a:r>
          </a:p>
        </p:txBody>
      </p:sp>
      <p:sp>
        <p:nvSpPr>
          <p:cNvPr id="3" name="Subtitle 2"/>
          <p:cNvSpPr>
            <a:spLocks noGrp="1"/>
          </p:cNvSpPr>
          <p:nvPr>
            <p:ph type="subTitle" idx="1"/>
          </p:nvPr>
        </p:nvSpPr>
        <p:spPr/>
        <p:txBody>
          <a:bodyPr/>
          <a:lstStyle/>
          <a:p>
            <a:r>
              <a:t>Key insights guiding our approach to flexible 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Work is the Current Workforce Preference</a:t>
            </a:r>
          </a:p>
        </p:txBody>
      </p:sp>
      <p:sp>
        <p:nvSpPr>
          <p:cNvPr id="3" name="Content Placeholder 2"/>
          <p:cNvSpPr>
            <a:spLocks noGrp="1"/>
          </p:cNvSpPr>
          <p:nvPr>
            <p:ph idx="1"/>
          </p:nvPr>
        </p:nvSpPr>
        <p:spPr/>
        <p:txBody>
          <a:bodyPr/>
          <a:lstStyle/>
          <a:p>
            <a:pPr>
              <a:defRPr sz="2400"/>
            </a:pPr>
            <a:r>
              <a:t>47% prefer the hybrid model (2-3 office days).</a:t>
            </a:r>
          </a:p>
          <a:p>
            <a:pPr>
              <a:defRPr sz="2400"/>
            </a:pPr>
            <a:r>
              <a:t>38% currently work fully remote.</a:t>
            </a:r>
          </a:p>
          <a:p>
            <a:pPr>
              <a:defRPr sz="2400"/>
            </a:pPr>
            <a:r>
              <a:t>15% remain fully on-site.</a:t>
            </a:r>
          </a:p>
          <a:p>
            <a:pPr>
              <a:defRPr sz="2400"/>
            </a:pPr>
            <a:r>
              <a:t>64% of hybrid workers want to maintain current schedules.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Retaining Talent Requires Maintaining Flexibility</a:t>
            </a:r>
          </a:p>
        </p:txBody>
      </p:sp>
      <p:sp>
        <p:nvSpPr>
          <p:cNvPr id="3" name="Content Placeholder 2"/>
          <p:cNvSpPr>
            <a:spLocks noGrp="1"/>
          </p:cNvSpPr>
          <p:nvPr>
            <p:ph idx="1"/>
          </p:nvPr>
        </p:nvSpPr>
        <p:spPr/>
        <p:txBody>
          <a:bodyPr/>
          <a:lstStyle/>
          <a:p>
            <a:pPr>
              <a:defRPr sz="2400"/>
            </a:pPr>
            <a:r>
              <a:t>29% would likely leave if remote options are removed.</a:t>
            </a:r>
          </a:p>
          <a:p>
            <a:pPr>
              <a:defRPr sz="2400"/>
            </a:pPr>
            <a:r>
              <a:t>Commute time is the top cited factor for remote preference.</a:t>
            </a:r>
          </a:p>
          <a:p>
            <a:pPr>
              <a:defRPr sz="2400"/>
            </a:pPr>
            <a:r>
              <a:t>Flexibility is a critical factor in job decisions.</a:t>
            </a:r>
          </a:p>
          <a:p>
            <a:pPr>
              <a:defRPr sz="2400"/>
            </a:pPr>
            <a:r>
              <a:t>Removing options increases retention risk.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Wellbeing and Productivity Are Tied to Location</a:t>
            </a:r>
          </a:p>
        </p:txBody>
      </p:sp>
      <p:sp>
        <p:nvSpPr>
          <p:cNvPr id="3" name="Content Placeholder 2"/>
          <p:cNvSpPr>
            <a:spLocks noGrp="1"/>
          </p:cNvSpPr>
          <p:nvPr>
            <p:ph idx="1"/>
          </p:nvPr>
        </p:nvSpPr>
        <p:spPr/>
        <p:txBody>
          <a:bodyPr/>
          <a:lstStyle/>
          <a:p>
            <a:pPr>
              <a:defRPr sz="2400"/>
            </a:pPr>
            <a:r>
              <a:t>58% report higher productivity when remote.</a:t>
            </a:r>
          </a:p>
          <a:p>
            <a:pPr>
              <a:defRPr sz="2400"/>
            </a:pPr>
            <a:r>
              <a:t>Burnout scores dropped from 3.4 to 2.9 (2024 vs 2026).</a:t>
            </a:r>
          </a:p>
          <a:p>
            <a:pPr>
              <a:defRPr sz="2400"/>
            </a:pPr>
            <a:r>
              <a:t>41% of fully remote staff feel weekly disconnection.</a:t>
            </a:r>
          </a:p>
          <a:p>
            <a:pPr>
              <a:defRPr sz="2400"/>
            </a:pPr>
            <a:r>
              <a:t>Hybrid models support both productivity and wellbeing.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Collaboration Needs Structure and Efficiency</a:t>
            </a:r>
          </a:p>
        </p:txBody>
      </p:sp>
      <p:sp>
        <p:nvSpPr>
          <p:cNvPr id="3" name="Content Placeholder 2"/>
          <p:cNvSpPr>
            <a:spLocks noGrp="1"/>
          </p:cNvSpPr>
          <p:nvPr>
            <p:ph idx="1"/>
          </p:nvPr>
        </p:nvSpPr>
        <p:spPr/>
        <p:txBody>
          <a:bodyPr/>
          <a:lstStyle/>
          <a:p>
            <a:pPr>
              <a:defRPr sz="2400"/>
            </a:pPr>
            <a:r>
              <a:t>Meetings increased from 9 to 13 per week.</a:t>
            </a:r>
          </a:p>
          <a:p>
            <a:pPr>
              <a:defRPr sz="2400"/>
            </a:pPr>
            <a:r>
              <a:t>67% find at least a third of meetings unnecessary.</a:t>
            </a:r>
          </a:p>
          <a:p>
            <a:pPr>
              <a:defRPr sz="2400"/>
            </a:pPr>
            <a:r>
              <a:t>Remote onboarding scores are significantly lower (2.6/5).</a:t>
            </a:r>
          </a:p>
          <a:p>
            <a:pPr>
              <a:defRPr sz="2400"/>
            </a:pPr>
            <a:r>
              <a:t>In-person interaction supports new hire development.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Path Forward: Key Decisions and Next Steps</a:t>
            </a:r>
          </a:p>
        </p:txBody>
      </p:sp>
      <p:sp>
        <p:nvSpPr>
          <p:cNvPr id="3" name="Content Placeholder 2"/>
          <p:cNvSpPr>
            <a:spLocks noGrp="1"/>
          </p:cNvSpPr>
          <p:nvPr>
            <p:ph idx="1"/>
          </p:nvPr>
        </p:nvSpPr>
        <p:spPr/>
        <p:txBody>
          <a:bodyPr/>
          <a:lstStyle/>
          <a:p>
            <a:pPr>
              <a:defRPr sz="2400"/>
            </a:pPr>
            <a:r>
              <a:t>Formalize hybrid work as the default policy.</a:t>
            </a:r>
          </a:p>
          <a:p>
            <a:pPr>
              <a:defRPr sz="2400"/>
            </a:pPr>
            <a:r>
              <a:t>Design and implement structured onboarding programs.</a:t>
            </a:r>
          </a:p>
          <a:p>
            <a:pPr>
              <a:defRPr sz="2400"/>
            </a:pPr>
            <a:r>
              <a:t>Establish meeting hygiene protocols (audits/blocks).</a:t>
            </a:r>
          </a:p>
          <a:p>
            <a:pPr>
              <a:defRPr sz="2400"/>
            </a:pPr>
            <a:r>
              <a:t>Support connection through quarterly team events.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