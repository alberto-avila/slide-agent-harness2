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we're presenting the key findings from our 2026 Remote Work Survey. The goal is to translate these employee insights into actionable strategies that support both productivity and retention for HR leadership.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clearly shows a strong preference for flexibility. While fully remote is significant, the hybrid model is the dominant choice. We must ensure our policies support this balance while addressing the core reason: reducing the burden of the commute.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positive note, our wellbeing scores have improved, indicating successful adjustments. However, the data on isolation for fully remote staff is a major red flag. We need strategies to build digital connection and team cohesion for these employees.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spending too much time in unnecessary meetings. The data suggests we need to actively audit our meeting culture. Furthermore, the onboarding gap for remote new hires is critical—we need to structure their initial months to replicate the benefits of being physically present.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critical finding. Our employees view flexibility not as a perk, but as a core expectation of the job. If we lose this flexibility, we face a significant retention risk. HR must champion policies that protect and enhance remote work options.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recommendations are focused on structure, connection, and efficiency. By adopting a hybrid default, improving onboarding, and managing meeting culture, we can mitigate the risks identified and build a sustainable, high-performing workplace.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path forward requires intentional policy changes. We must move from simply 'allowing' remote work to actively 'designing' a flexible, connected, and high-performing hybrid experience. These four points are our immediate priorities.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Remote Work Survey: Key Findings for HR</a:t>
            </a:r>
          </a:p>
        </p:txBody>
      </p:sp>
      <p:sp>
        <p:nvSpPr>
          <p:cNvPr id="3" name="Subtitle 2"/>
          <p:cNvSpPr>
            <a:spLocks noGrp="1"/>
          </p:cNvSpPr>
          <p:nvPr>
            <p:ph type="subTitle" idx="1"/>
          </p:nvPr>
        </p:nvSpPr>
        <p:spPr/>
        <p:txBody>
          <a:bodyPr/>
          <a:lstStyle/>
          <a:p>
            <a:r>
              <a:t>Analyzing employee needs for a sustainable future of 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Hybrid Work is the Clear Choice for Employees</a:t>
            </a:r>
          </a:p>
        </p:txBody>
      </p:sp>
      <p:sp>
        <p:nvSpPr>
          <p:cNvPr id="3" name="Content Placeholder 2"/>
          <p:cNvSpPr>
            <a:spLocks noGrp="1"/>
          </p:cNvSpPr>
          <p:nvPr>
            <p:ph idx="1"/>
          </p:nvPr>
        </p:nvSpPr>
        <p:spPr/>
        <p:txBody>
          <a:bodyPr/>
          <a:lstStyle/>
          <a:p>
            <a:pPr>
              <a:defRPr sz="2400"/>
            </a:pPr>
            <a:r>
              <a:t>47% prefer a hybrid schedule (2-3 days in office)</a:t>
            </a:r>
          </a:p>
          <a:p>
            <a:pPr>
              <a:defRPr sz="2400"/>
            </a:pPr>
            <a:r>
              <a:t>64% of hybrid workers want to maintain current setup</a:t>
            </a:r>
          </a:p>
          <a:p>
            <a:pPr>
              <a:defRPr sz="2400"/>
            </a:pPr>
            <a:r>
              <a:t>Commute time is the top driver for remote preference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Productivity is Up, But Isolation is a Risk</a:t>
            </a:r>
          </a:p>
        </p:txBody>
      </p:sp>
      <p:sp>
        <p:nvSpPr>
          <p:cNvPr id="3" name="Content Placeholder 2"/>
          <p:cNvSpPr>
            <a:spLocks noGrp="1"/>
          </p:cNvSpPr>
          <p:nvPr>
            <p:ph idx="1"/>
          </p:nvPr>
        </p:nvSpPr>
        <p:spPr/>
        <p:txBody>
          <a:bodyPr/>
          <a:lstStyle/>
          <a:p>
            <a:pPr>
              <a:defRPr sz="2400"/>
            </a:pPr>
            <a:r>
              <a:t>Burnout scores improved significantly since 2024</a:t>
            </a:r>
          </a:p>
          <a:p>
            <a:pPr>
              <a:defRPr sz="2400"/>
            </a:pPr>
            <a:r>
              <a:t>58% report higher productivity when working remotely</a:t>
            </a:r>
          </a:p>
          <a:p>
            <a:pPr>
              <a:defRPr sz="2400"/>
            </a:pPr>
            <a:r>
              <a:t>Fully remote staff report high levels of isolation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Optimize In-Person Time for Collaboration</a:t>
            </a:r>
          </a:p>
        </p:txBody>
      </p:sp>
      <p:sp>
        <p:nvSpPr>
          <p:cNvPr id="3" name="Content Placeholder 2"/>
          <p:cNvSpPr>
            <a:spLocks noGrp="1"/>
          </p:cNvSpPr>
          <p:nvPr>
            <p:ph idx="1"/>
          </p:nvPr>
        </p:nvSpPr>
        <p:spPr/>
        <p:txBody>
          <a:bodyPr/>
          <a:lstStyle/>
          <a:p>
            <a:pPr>
              <a:defRPr sz="2400"/>
            </a:pPr>
            <a:r>
              <a:t>Meeting frequency increased from 9 to 13 per week</a:t>
            </a:r>
          </a:p>
          <a:p>
            <a:pPr>
              <a:defRPr sz="2400"/>
            </a:pPr>
            <a:r>
              <a:t>67% find at least one-third of meetings unnecessary</a:t>
            </a:r>
          </a:p>
          <a:p>
            <a:pPr>
              <a:defRPr sz="2400"/>
            </a:pPr>
            <a:r>
              <a:t>New hires perform better when onboarding in person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Flexibility is Critical to Employee Retention</a:t>
            </a:r>
          </a:p>
        </p:txBody>
      </p:sp>
      <p:sp>
        <p:nvSpPr>
          <p:cNvPr id="3" name="Content Placeholder 2"/>
          <p:cNvSpPr>
            <a:spLocks noGrp="1"/>
          </p:cNvSpPr>
          <p:nvPr>
            <p:ph idx="1"/>
          </p:nvPr>
        </p:nvSpPr>
        <p:spPr/>
        <p:txBody>
          <a:bodyPr/>
          <a:lstStyle/>
          <a:p>
            <a:pPr>
              <a:defRPr sz="2400"/>
            </a:pPr>
            <a:r>
              <a:t>29% would likely seek other jobs without remote options</a:t>
            </a:r>
          </a:p>
          <a:p>
            <a:pPr>
              <a:defRPr sz="2400"/>
            </a:pPr>
            <a:r>
              <a:t>Commute time is the primary factor in job satisfaction</a:t>
            </a:r>
          </a:p>
          <a:p>
            <a:pPr>
              <a:defRPr sz="2400"/>
            </a:pPr>
            <a:r>
              <a:t>Maintaining flexibility is key to keeping top talent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Strategic Recommendations for the Future of Work</a:t>
            </a:r>
          </a:p>
        </p:txBody>
      </p:sp>
      <p:sp>
        <p:nvSpPr>
          <p:cNvPr id="3" name="Content Placeholder 2"/>
          <p:cNvSpPr>
            <a:spLocks noGrp="1"/>
          </p:cNvSpPr>
          <p:nvPr>
            <p:ph idx="1"/>
          </p:nvPr>
        </p:nvSpPr>
        <p:spPr/>
        <p:txBody>
          <a:bodyPr/>
          <a:lstStyle/>
          <a:p>
            <a:pPr>
              <a:defRPr sz="2400"/>
            </a:pPr>
            <a:r>
              <a:t>Adopt hybrid work as the default company standard</a:t>
            </a:r>
          </a:p>
          <a:p>
            <a:pPr>
              <a:defRPr sz="2400"/>
            </a:pPr>
            <a:r>
              <a:t>Implement structured, in-person onboarding for new hires</a:t>
            </a:r>
          </a:p>
          <a:p>
            <a:pPr>
              <a:defRPr sz="2400"/>
            </a:pPr>
            <a:r>
              <a:t>Run a meeting audit and establish focus time blocks</a:t>
            </a:r>
          </a:p>
          <a:p>
            <a:pPr>
              <a:defRPr sz="2400"/>
            </a:pPr>
            <a:r>
              <a:t>Fund quarterly team gatherings for fully remote staff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Building a Flexible Future</a:t>
            </a:r>
          </a:p>
        </p:txBody>
      </p:sp>
      <p:sp>
        <p:nvSpPr>
          <p:cNvPr id="3" name="Content Placeholder 2"/>
          <p:cNvSpPr>
            <a:spLocks noGrp="1"/>
          </p:cNvSpPr>
          <p:nvPr>
            <p:ph idx="1"/>
          </p:nvPr>
        </p:nvSpPr>
        <p:spPr/>
        <p:txBody>
          <a:bodyPr/>
          <a:lstStyle/>
          <a:p>
            <a:pPr>
              <a:defRPr sz="2400"/>
            </a:pPr>
            <a:r>
              <a:t>Prioritize hybrid work as the default policy</a:t>
            </a:r>
          </a:p>
          <a:p>
            <a:pPr>
              <a:defRPr sz="2400"/>
            </a:pPr>
            <a:r>
              <a:t>Invest in intentional connection and onboarding</a:t>
            </a:r>
          </a:p>
          <a:p>
            <a:pPr>
              <a:defRPr sz="2400"/>
            </a:pPr>
            <a:r>
              <a:t>Audit meetings and protect deep focus time</a:t>
            </a:r>
          </a:p>
          <a:p>
            <a:pPr>
              <a:defRPr sz="2400"/>
            </a:pPr>
            <a:r>
              <a:t>Address isolation proactively to maintain wellbeing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