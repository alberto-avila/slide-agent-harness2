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we'll walk through the findings from our 2026 remote work survey. The goal isn't just to report data, but to provide actionable insights that will help us define a sustainable and engaging future work model for all employees.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a lot of data, so I've structured the presentation around five key areas: the current state of work, the human element, collaboration challenges, retention risks, and finally, concrete recommendations for HR to consider.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is clear: hybrid is the sweet spot. While fully remote is popular, the majority of our hybrid workforce is satisfied with their current balance. We also see a significant segment that desires more flexibility, which we need to address.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a critical paradox. Our employees feel more productive and less burned out overall, which is fantastic. However, this flexibility comes at a cost: isolation. We cannot ignore the emotional and social costs of working remotely.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collaboration methods are inefficient. We are having too many meetings, and the quality of those meetings is questionable. Furthermore, we are failing our new hires when they are remote. We must make collaboration intentional.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survey team has provided four clear pathways forward. These are not just suggestions; they are necessary structural changes to support our workforce. These actions directly address the pain points we've identified.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future of work is flexible, but it cannot be unstructured. We must proactively design the framework that supports both productivity and connection. I recommend we schedule dedicated follow-up sessions to build out the implementation plan for these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like to open the floor now for questions. I'm happy to dive deeper into any of the findings or recommendations we discussed today. What are your thoughts on how we move forward?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Survey Findings: Defining the Future of Work</a:t>
            </a:r>
          </a:p>
        </p:txBody>
      </p:sp>
      <p:sp>
        <p:nvSpPr>
          <p:cNvPr id="3" name="Subtitle 2"/>
          <p:cNvSpPr>
            <a:spLocks noGrp="1"/>
          </p:cNvSpPr>
          <p:nvPr>
            <p:ph type="subTitle" idx="1"/>
          </p:nvPr>
        </p:nvSpPr>
        <p:spPr/>
        <p:txBody>
          <a:bodyPr/>
          <a:lstStyle/>
          <a:p>
            <a:r>
              <a:t>Key Insights from the 2026 Remote Work Survey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Key Areas of Focus</a:t>
            </a:r>
          </a:p>
        </p:txBody>
      </p:sp>
      <p:sp>
        <p:nvSpPr>
          <p:cNvPr id="3" name="Content Placeholder 2"/>
          <p:cNvSpPr>
            <a:spLocks noGrp="1"/>
          </p:cNvSpPr>
          <p:nvPr>
            <p:ph idx="1"/>
          </p:nvPr>
        </p:nvSpPr>
        <p:spPr/>
        <p:txBody>
          <a:bodyPr/>
          <a:lstStyle/>
          <a:p>
            <a:pPr>
              <a:defRPr sz="2400"/>
            </a:pPr>
            <a:r>
              <a:t>Understanding current work arrangements</a:t>
            </a:r>
          </a:p>
          <a:p>
            <a:pPr>
              <a:defRPr sz="2400"/>
            </a:pPr>
            <a:r>
              <a:t>Assessing productivity and employee wellbeing</a:t>
            </a:r>
          </a:p>
          <a:p>
            <a:pPr>
              <a:defRPr sz="2400"/>
            </a:pPr>
            <a:r>
              <a:t>Optimizing collaboration and onboarding</a:t>
            </a:r>
          </a:p>
          <a:p>
            <a:pPr>
              <a:defRPr sz="2400"/>
            </a:pPr>
            <a:r>
              <a:t>Identifying key retention risks</a:t>
            </a:r>
          </a:p>
          <a:p>
            <a:pPr>
              <a:defRPr sz="2400"/>
            </a:pPr>
            <a:r>
              <a:t>Reviewing actionable recommendations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Models Remain the Preferred Work Arrangement</a:t>
            </a:r>
          </a:p>
        </p:txBody>
      </p:sp>
      <p:sp>
        <p:nvSpPr>
          <p:cNvPr id="3" name="Content Placeholder 2"/>
          <p:cNvSpPr>
            <a:spLocks noGrp="1"/>
          </p:cNvSpPr>
          <p:nvPr>
            <p:ph idx="1"/>
          </p:nvPr>
        </p:nvSpPr>
        <p:spPr/>
        <p:txBody>
          <a:bodyPr/>
          <a:lstStyle/>
          <a:p>
            <a:pPr>
              <a:defRPr sz="2400"/>
            </a:pPr>
            <a:r>
              <a:t>Nearly half prefer a 2-3 day hybrid schedule</a:t>
            </a:r>
          </a:p>
          <a:p>
            <a:pPr>
              <a:defRPr sz="2400"/>
            </a:pPr>
            <a:r>
              <a:t>Most hybrid staff want to maintain current balance</a:t>
            </a:r>
          </a:p>
          <a:p>
            <a:pPr>
              <a:defRPr sz="2400"/>
            </a:pPr>
            <a:r>
              <a:t>Strong desire for increased remote flexibility</a:t>
            </a:r>
          </a:p>
          <a:p>
            <a:pPr>
              <a:defRPr sz="2400"/>
            </a:pPr>
            <a:r>
              <a:t>Only 15% prefer fully on-site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Productivity is High, But Isolation is a Significant Risk</a:t>
            </a:r>
          </a:p>
        </p:txBody>
      </p:sp>
      <p:sp>
        <p:nvSpPr>
          <p:cNvPr id="3" name="Content Placeholder 2"/>
          <p:cNvSpPr>
            <a:spLocks noGrp="1"/>
          </p:cNvSpPr>
          <p:nvPr>
            <p:ph idx="1"/>
          </p:nvPr>
        </p:nvSpPr>
        <p:spPr/>
        <p:txBody>
          <a:bodyPr/>
          <a:lstStyle/>
          <a:p>
            <a:pPr>
              <a:defRPr sz="2400"/>
            </a:pPr>
            <a:r>
              <a:t>58% report higher productivity when remote</a:t>
            </a:r>
          </a:p>
          <a:p>
            <a:pPr>
              <a:defRPr sz="2400"/>
            </a:pPr>
            <a:r>
              <a:t>Burnout scores improved significantly (3.4 to 2.9)</a:t>
            </a:r>
          </a:p>
          <a:p>
            <a:pPr>
              <a:defRPr sz="2400"/>
            </a:pPr>
            <a:r>
              <a:t>Fully remote staff report high levels of isolation</a:t>
            </a:r>
          </a:p>
          <a:p>
            <a:pPr>
              <a:defRPr sz="2400"/>
            </a:pPr>
            <a:r>
              <a:t>41% feel 'disconnected' from team weekly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Collaboration Needs Structure and Intentional Focus</a:t>
            </a:r>
          </a:p>
        </p:txBody>
      </p:sp>
      <p:sp>
        <p:nvSpPr>
          <p:cNvPr id="3" name="Content Placeholder 2"/>
          <p:cNvSpPr>
            <a:spLocks noGrp="1"/>
          </p:cNvSpPr>
          <p:nvPr>
            <p:ph idx="1"/>
          </p:nvPr>
        </p:nvSpPr>
        <p:spPr/>
        <p:txBody>
          <a:bodyPr/>
          <a:lstStyle/>
          <a:p>
            <a:pPr>
              <a:defRPr sz="2400"/>
            </a:pPr>
            <a:r>
              <a:t>Meetings increased, with 67% deeming some unnecessary</a:t>
            </a:r>
          </a:p>
          <a:p>
            <a:pPr>
              <a:defRPr sz="2400"/>
            </a:pPr>
            <a:r>
              <a:t>New hires rate remote onboarding lower (2.6/5)</a:t>
            </a:r>
          </a:p>
          <a:p>
            <a:pPr>
              <a:defRPr sz="2400"/>
            </a:pPr>
            <a:r>
              <a:t>In-person onboarding scores significantly higher (3.9/5)</a:t>
            </a:r>
          </a:p>
          <a:p>
            <a:pPr>
              <a:defRPr sz="2400"/>
            </a:pPr>
            <a:r>
              <a:t>Need to protect time for deep, focused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Actionable Recommendations for Future Work Design</a:t>
            </a:r>
          </a:p>
        </p:txBody>
      </p:sp>
      <p:sp>
        <p:nvSpPr>
          <p:cNvPr id="3" name="Content Placeholder 2"/>
          <p:cNvSpPr>
            <a:spLocks noGrp="1"/>
          </p:cNvSpPr>
          <p:nvPr>
            <p:ph idx="1"/>
          </p:nvPr>
        </p:nvSpPr>
        <p:spPr/>
        <p:txBody>
          <a:bodyPr/>
          <a:lstStyle/>
          <a:p>
            <a:pPr>
              <a:defRPr sz="2400"/>
            </a:pPr>
            <a:r>
              <a:t>Implement hybrid as the default model</a:t>
            </a:r>
          </a:p>
          <a:p>
            <a:pPr>
              <a:defRPr sz="2400"/>
            </a:pPr>
            <a:r>
              <a:t>Mandate structured, in-person onboarding</a:t>
            </a:r>
          </a:p>
          <a:p>
            <a:pPr>
              <a:defRPr sz="2400"/>
            </a:pPr>
            <a:r>
              <a:t>Run meeting audits and set focus blocks</a:t>
            </a:r>
          </a:p>
          <a:p>
            <a:pPr>
              <a:defRPr sz="2400"/>
            </a:pPr>
            <a:r>
              <a:t>Fund quarterly team gatherings for remote staff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Defining Our Path Forward Together</a:t>
            </a:r>
          </a:p>
        </p:txBody>
      </p:sp>
      <p:sp>
        <p:nvSpPr>
          <p:cNvPr id="3" name="Content Placeholder 2"/>
          <p:cNvSpPr>
            <a:spLocks noGrp="1"/>
          </p:cNvSpPr>
          <p:nvPr>
            <p:ph idx="1"/>
          </p:nvPr>
        </p:nvSpPr>
        <p:spPr/>
        <p:txBody>
          <a:bodyPr/>
          <a:lstStyle/>
          <a:p>
            <a:pPr>
              <a:defRPr sz="2400"/>
            </a:pPr>
            <a:r>
              <a:t>Prioritize flexibility while maintaining connection</a:t>
            </a:r>
          </a:p>
          <a:p>
            <a:pPr>
              <a:defRPr sz="2400"/>
            </a:pPr>
            <a:r>
              <a:t>Invest in structured support for all employees</a:t>
            </a:r>
          </a:p>
          <a:p>
            <a:pPr>
              <a:defRPr sz="2400"/>
            </a:pPr>
            <a:r>
              <a:t>Define clear guidelines for hybrid work</a:t>
            </a:r>
          </a:p>
          <a:p>
            <a:pPr>
              <a:defRPr sz="2400"/>
            </a:pPr>
            <a:r>
              <a:t>Schedule deep-dive sessions on implementation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&amp; Discussion</a:t>
            </a:r>
          </a:p>
        </p:txBody>
      </p:sp>
      <p:sp>
        <p:nvSpPr>
          <p:cNvPr id="3" name="Content Placeholder 2"/>
          <p:cNvSpPr>
            <a:spLocks noGrp="1"/>
          </p:cNvSpPr>
          <p:nvPr>
            <p:ph idx="1"/>
          </p:nvPr>
        </p:nvSpPr>
        <p:spPr/>
        <p:txBody>
          <a:bodyPr/>
          <a:lstStyle/>
          <a:p>
            <a:pPr>
              <a:defRPr sz="2400"/>
            </a:pPr>
            <a:r>
              <a:t>What are your immediate concerns?</a:t>
            </a:r>
          </a:p>
          <a:p>
            <a:pPr>
              <a:defRPr sz="2400"/>
            </a:pPr>
            <a:r>
              <a:t>How can we best support remote teams?</a:t>
            </a:r>
          </a:p>
          <a:p>
            <a:pPr>
              <a:defRPr sz="2400"/>
            </a:pPr>
            <a:r>
              <a:t>What resources do you need to succeed?</a:t>
            </a:r>
          </a:p>
          <a:p>
            <a:pPr>
              <a:defRPr sz="2400"/>
            </a:pPr>
            <a:r>
              <a:t>Let's discuss implementation timelines.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