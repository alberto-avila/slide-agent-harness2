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we'll walk through the findings from our comprehensive 2026 remote work survey. The goal isn't just to report data, but to provide actionable insights that will help us build a sustainable, high-performing, and engaging work environment for all employees.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cover five key areas today. We'll start by reviewing how people are actually working, then dive into the impact on wellbeing and productivity, before discussing the critical need to improve collaboration. Finally, we'll present our strategic recommendations for HR to consider.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clearly shows that the hybrid model is not just acceptable, it's the preferred model. A significant majority of our employees are comfortable and productive in a hybrid setting. The desire to keep the current schedule is strong, and this is heavily influenced by the reduction in commute time, which is a major quality-of-life factor for our staff.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positive side, productivity remains high, and the trend in burnout scores is encouraging, suggesting that the current flexibility is helping wellbeing overall. However, we cannot ignore the isolation risk. The 41% figure for fully remote staff is a critical warning sign that requires immediate attention and structured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collaboration patterns are inefficient. The rise in meetings, coupled with the belief that many are unnecessary, indicates a need for process overhaul. Furthermore, the onboarding gap for remote new hires is a retention risk. We must ensure that the initial employee experience is high-touch and in-person.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recommendations are our path forward. By adopting hybrid as the default, we empower teams. By structuring onboarding, we protect our new talent. By auditing meetings, we reclaim time. And by funding gatherings, we combat isolation and build connection. These steps will transform our current model into a thriving, connected future.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findings: Flexibility is non-negotiable, but connection is critical. We are seeing productivity gains, but these are undermined by isolation and meeting fatigue. Our focus must be on structuring the *how*—the processes—to support the *where*—the hybrid model. This leads us directly to our recommended action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Remote Work Survey: Key Findings for HR Leadership</a:t>
            </a:r>
          </a:p>
        </p:txBody>
      </p:sp>
      <p:sp>
        <p:nvSpPr>
          <p:cNvPr id="3" name="Subtitle 2"/>
          <p:cNvSpPr>
            <a:spLocks noGrp="1"/>
          </p:cNvSpPr>
          <p:nvPr>
            <p:ph type="subTitle" idx="1"/>
          </p:nvPr>
        </p:nvSpPr>
        <p:spPr/>
        <p:txBody>
          <a:bodyPr/>
          <a:lstStyle/>
          <a:p>
            <a:r>
              <a:t>Actionable insights for optimizing our work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Key Areas of Focus</a:t>
            </a:r>
          </a:p>
        </p:txBody>
      </p:sp>
      <p:sp>
        <p:nvSpPr>
          <p:cNvPr id="3" name="Content Placeholder 2"/>
          <p:cNvSpPr>
            <a:spLocks noGrp="1"/>
          </p:cNvSpPr>
          <p:nvPr>
            <p:ph idx="1"/>
          </p:nvPr>
        </p:nvSpPr>
        <p:spPr/>
        <p:txBody>
          <a:bodyPr/>
          <a:lstStyle/>
          <a:p>
            <a:pPr>
              <a:defRPr sz="2400"/>
            </a:pPr>
            <a:r>
              <a:t>Current work arrangements and employee preferences</a:t>
            </a:r>
          </a:p>
          <a:p>
            <a:pPr>
              <a:defRPr sz="2400"/>
            </a:pPr>
            <a:r>
              <a:t>Productivity and wellbeing trends</a:t>
            </a:r>
          </a:p>
          <a:p>
            <a:pPr>
              <a:defRPr sz="2400"/>
            </a:pPr>
            <a:r>
              <a:t>Collaboration challenges and new hires</a:t>
            </a:r>
          </a:p>
          <a:p>
            <a:pPr>
              <a:defRPr sz="2400"/>
            </a:pPr>
            <a:r>
              <a:t>Strategic recommendations for the future</a:t>
            </a:r>
          </a:p>
          <a:p>
            <a:pPr>
              <a:defRPr sz="2400"/>
            </a:pPr>
            <a:r>
              <a:t>Defining our path forward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Work is the Clear Employee Preference</a:t>
            </a:r>
          </a:p>
        </p:txBody>
      </p:sp>
      <p:sp>
        <p:nvSpPr>
          <p:cNvPr id="3" name="Content Placeholder 2"/>
          <p:cNvSpPr>
            <a:spLocks noGrp="1"/>
          </p:cNvSpPr>
          <p:nvPr>
            <p:ph idx="1"/>
          </p:nvPr>
        </p:nvSpPr>
        <p:spPr/>
        <p:txBody>
          <a:bodyPr/>
          <a:lstStyle/>
          <a:p>
            <a:pPr>
              <a:defRPr sz="2400"/>
            </a:pPr>
            <a:r>
              <a:t>47% favor a hybrid schedule (2-3 days in office)</a:t>
            </a:r>
          </a:p>
          <a:p>
            <a:pPr>
              <a:defRPr sz="2400"/>
            </a:pPr>
            <a:r>
              <a:t>64% of hybrid workers wish to maintain current flexibility</a:t>
            </a:r>
          </a:p>
          <a:p>
            <a:pPr>
              <a:defRPr sz="2400"/>
            </a:pPr>
            <a:r>
              <a:t>Commute time is the top driver for remote preference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Productivity is High, But Isolation is a Risk</a:t>
            </a:r>
          </a:p>
        </p:txBody>
      </p:sp>
      <p:sp>
        <p:nvSpPr>
          <p:cNvPr id="3" name="Content Placeholder 2"/>
          <p:cNvSpPr>
            <a:spLocks noGrp="1"/>
          </p:cNvSpPr>
          <p:nvPr>
            <p:ph idx="1"/>
          </p:nvPr>
        </p:nvSpPr>
        <p:spPr/>
        <p:txBody>
          <a:bodyPr/>
          <a:lstStyle/>
          <a:p>
            <a:pPr>
              <a:defRPr sz="2400"/>
            </a:pPr>
            <a:r>
              <a:t>58% report increased productivity when remote</a:t>
            </a:r>
          </a:p>
          <a:p>
            <a:pPr>
              <a:defRPr sz="2400"/>
            </a:pPr>
            <a:r>
              <a:t>Burnout scores improved significantly (3.4 to 2.9)</a:t>
            </a:r>
          </a:p>
          <a:p>
            <a:pPr>
              <a:defRPr sz="2400"/>
            </a:pPr>
            <a:r>
              <a:t>Fully remote staff report high feelings of isolation (41%)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Meetings and Onboarding Need Immediate Structure</a:t>
            </a:r>
          </a:p>
        </p:txBody>
      </p:sp>
      <p:sp>
        <p:nvSpPr>
          <p:cNvPr id="3" name="Content Placeholder 2"/>
          <p:cNvSpPr>
            <a:spLocks noGrp="1"/>
          </p:cNvSpPr>
          <p:nvPr>
            <p:ph idx="1"/>
          </p:nvPr>
        </p:nvSpPr>
        <p:spPr/>
        <p:txBody>
          <a:bodyPr/>
          <a:lstStyle/>
          <a:p>
            <a:pPr>
              <a:defRPr sz="2400"/>
            </a:pPr>
            <a:r>
              <a:t>Meeting frequency increased significantly (9 to 13/week)</a:t>
            </a:r>
          </a:p>
          <a:p>
            <a:pPr>
              <a:defRPr sz="2400"/>
            </a:pPr>
            <a:r>
              <a:t>67% view at least a third of meetings as unnecessary</a:t>
            </a:r>
          </a:p>
          <a:p>
            <a:pPr>
              <a:defRPr sz="2400"/>
            </a:pPr>
            <a:r>
              <a:t>Remote onboarding scores are notably lower (2.6/5)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Plan: Building a Sustainable Hybrid Model</a:t>
            </a:r>
          </a:p>
        </p:txBody>
      </p:sp>
      <p:sp>
        <p:nvSpPr>
          <p:cNvPr id="3" name="Content Placeholder 2"/>
          <p:cNvSpPr>
            <a:spLocks noGrp="1"/>
          </p:cNvSpPr>
          <p:nvPr>
            <p:ph idx="1"/>
          </p:nvPr>
        </p:nvSpPr>
        <p:spPr/>
        <p:txBody>
          <a:bodyPr/>
          <a:lstStyle/>
          <a:p>
            <a:pPr>
              <a:defRPr sz="2400"/>
            </a:pPr>
            <a:r>
              <a:t>Adopt hybrid as the default, allowing team autonomy</a:t>
            </a:r>
          </a:p>
          <a:p>
            <a:pPr>
              <a:defRPr sz="2400"/>
            </a:pPr>
            <a:r>
              <a:t>Implement structured, in-person onboarding for new hires</a:t>
            </a:r>
          </a:p>
          <a:p>
            <a:pPr>
              <a:defRPr sz="2400"/>
            </a:pPr>
            <a:r>
              <a:t>Audit meetings and establish 'no-meeting' focus blocks</a:t>
            </a:r>
          </a:p>
          <a:p>
            <a:pPr>
              <a:defRPr sz="2400"/>
            </a:pPr>
            <a:r>
              <a:t>Fund quarterly, intentional team gatherings for remote staff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Key Insights for HR Leadership</a:t>
            </a:r>
          </a:p>
        </p:txBody>
      </p:sp>
      <p:sp>
        <p:nvSpPr>
          <p:cNvPr id="3" name="Content Placeholder 2"/>
          <p:cNvSpPr>
            <a:spLocks noGrp="1"/>
          </p:cNvSpPr>
          <p:nvPr>
            <p:ph idx="1"/>
          </p:nvPr>
        </p:nvSpPr>
        <p:spPr/>
        <p:txBody>
          <a:bodyPr/>
          <a:lstStyle/>
          <a:p>
            <a:pPr>
              <a:defRPr sz="2400"/>
            </a:pPr>
            <a:r>
              <a:t>Hybrid flexibility is the dominant employee expectation</a:t>
            </a:r>
          </a:p>
          <a:p>
            <a:pPr>
              <a:defRPr sz="2400"/>
            </a:pPr>
            <a:r>
              <a:t>Isolation and inefficient meetings are critical risks</a:t>
            </a:r>
          </a:p>
          <a:p>
            <a:pPr>
              <a:defRPr sz="2400"/>
            </a:pPr>
            <a:r>
              <a:t>Structured collaboration is key to retention and wellbeing</a:t>
            </a:r>
          </a:p>
          <a:p>
            <a:pPr>
              <a:defRPr sz="2400"/>
            </a:pPr>
            <a:r>
              <a:t>Action is needed to support a connected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