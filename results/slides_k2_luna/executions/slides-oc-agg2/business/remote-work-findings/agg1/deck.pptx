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HR leadership. Today, we're reviewing the comprehensive findings from our 2026 Remote Work Survey. This data is critical because it directly impacts retention, productivity, and our overall employee experience. Our goal today is not just to report numbers, but to propose actionable strategies to optimize our hybrid model for the future.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survey covered four main pillars: how people want to work, how they feel doing it, how they work together, and whether they plan to stay with us. We will walk through the findings for each area and conclude with concrete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very clear here. While 38% are fully remote, the largest group, 47%, prefers hybrid. Crucially, the majority of those in hybrid roles want to keep their current balance. This confirms that flexibility is not a perk, but an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a mixed picture. On one hand, the data shows increased productivity and a reduction in burnout, which is excellent. However, the isolation metric is a significant red flag. We are achieving output, but at the expense of team connection and mental wellbeing.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see systemic issues in how we operate. The meeting overload is draining time, and the onboarding process needs immediate attention. Most critically, the retention data shows that flexibility is now a core component of our employment value proposition. If we remove it, we risk significant attrition.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survey team has provided four clear, actionable recommendations. These steps address the core issues of flexibility, connection, and efficiency. By implementing these changes, we can safeguard our culture, maximize productivity, and ensure we remain an employer of choice. I recommend forming cross-functional task forces immediately to tackle these initiatives.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discussion: Flexibility is the baseline expectation. We must proactively invest in connection to combat isolation. We need to treat meetings as a resource to be managed, not a default activity. And finally, we must build intentional structures for connection, whether quarterly or monthly.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Navigating the Future of Work: Key Survey Findings</a:t>
            </a:r>
          </a:p>
        </p:txBody>
      </p:sp>
      <p:sp>
        <p:nvSpPr>
          <p:cNvPr id="3" name="Subtitle 2"/>
          <p:cNvSpPr>
            <a:spLocks noGrp="1"/>
          </p:cNvSpPr>
          <p:nvPr>
            <p:ph type="subTitle" idx="1"/>
          </p:nvPr>
        </p:nvSpPr>
        <p:spPr/>
        <p:txBody>
          <a:bodyPr/>
          <a:lstStyle/>
          <a:p>
            <a:r>
              <a:t>Findings from the Remote Work Survey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Employee Needs: Survey Overview</a:t>
            </a:r>
          </a:p>
        </p:txBody>
      </p:sp>
      <p:sp>
        <p:nvSpPr>
          <p:cNvPr id="3" name="Content Placeholder 2"/>
          <p:cNvSpPr>
            <a:spLocks noGrp="1"/>
          </p:cNvSpPr>
          <p:nvPr>
            <p:ph idx="1"/>
          </p:nvPr>
        </p:nvSpPr>
        <p:spPr/>
        <p:txBody>
          <a:bodyPr/>
          <a:lstStyle/>
          <a:p>
            <a:pPr>
              <a:defRPr sz="2400"/>
            </a:pPr>
            <a:r>
              <a:t>Analyzing current work arrangement preferences</a:t>
            </a:r>
          </a:p>
          <a:p>
            <a:pPr>
              <a:defRPr sz="2400"/>
            </a:pPr>
            <a:r>
              <a:t>Measuring impact on productivity and wellbeing</a:t>
            </a:r>
          </a:p>
          <a:p>
            <a:pPr>
              <a:defRPr sz="2400"/>
            </a:pPr>
            <a:r>
              <a:t>Identifying collaboration friction points</a:t>
            </a:r>
          </a:p>
          <a:p>
            <a:pPr>
              <a:defRPr sz="2400"/>
            </a:pPr>
            <a:r>
              <a:t>Assessing retention risks and employee loyalty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Flexibility is the Employee Expectation</a:t>
            </a:r>
          </a:p>
        </p:txBody>
      </p:sp>
      <p:sp>
        <p:nvSpPr>
          <p:cNvPr id="3" name="Content Placeholder 2"/>
          <p:cNvSpPr>
            <a:spLocks noGrp="1"/>
          </p:cNvSpPr>
          <p:nvPr>
            <p:ph idx="1"/>
          </p:nvPr>
        </p:nvSpPr>
        <p:spPr/>
        <p:txBody>
          <a:bodyPr/>
          <a:lstStyle/>
          <a:p>
            <a:pPr>
              <a:defRPr sz="2400"/>
            </a:pPr>
            <a:r>
              <a:t>71% participation rate across 6 offices</a:t>
            </a:r>
          </a:p>
          <a:p>
            <a:pPr>
              <a:defRPr sz="2400"/>
            </a:pPr>
            <a:r>
              <a:t>47% prefer hybrid (2-3 office days)</a:t>
            </a:r>
          </a:p>
          <a:p>
            <a:pPr>
              <a:defRPr sz="2400"/>
            </a:pPr>
            <a:r>
              <a:t>64% want to maintain current schedules</a:t>
            </a:r>
          </a:p>
          <a:p>
            <a:pPr>
              <a:defRPr sz="2400"/>
            </a:pPr>
            <a:r>
              <a:t>Commute time is the top reason for flexibility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Remote Work Boosts Output, But Isolation is Rising</a:t>
            </a:r>
          </a:p>
        </p:txBody>
      </p:sp>
      <p:sp>
        <p:nvSpPr>
          <p:cNvPr id="3" name="Content Placeholder 2"/>
          <p:cNvSpPr>
            <a:spLocks noGrp="1"/>
          </p:cNvSpPr>
          <p:nvPr>
            <p:ph idx="1"/>
          </p:nvPr>
        </p:nvSpPr>
        <p:spPr/>
        <p:txBody>
          <a:bodyPr/>
          <a:lstStyle/>
          <a:p>
            <a:pPr>
              <a:defRPr sz="2400"/>
            </a:pPr>
            <a:r>
              <a:t>58% report higher productivity when remote</a:t>
            </a:r>
          </a:p>
          <a:p>
            <a:pPr>
              <a:defRPr sz="2400"/>
            </a:pPr>
            <a:r>
              <a:t>Burnout scores significantly decreased (3.4 to 2.9)</a:t>
            </a:r>
          </a:p>
          <a:p>
            <a:pPr>
              <a:defRPr sz="2400"/>
            </a:pPr>
            <a:r>
              <a:t>Fully remote staff report high isolation levels</a:t>
            </a:r>
          </a:p>
          <a:p>
            <a:pPr>
              <a:defRPr sz="2400"/>
            </a:pPr>
            <a:r>
              <a:t>41% feel disconnected from the team weekly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Structural Changes Are Needed to Maintain Talent</a:t>
            </a:r>
          </a:p>
        </p:txBody>
      </p:sp>
      <p:sp>
        <p:nvSpPr>
          <p:cNvPr id="3" name="Content Placeholder 2"/>
          <p:cNvSpPr>
            <a:spLocks noGrp="1"/>
          </p:cNvSpPr>
          <p:nvPr>
            <p:ph idx="1"/>
          </p:nvPr>
        </p:nvSpPr>
        <p:spPr/>
        <p:txBody>
          <a:bodyPr/>
          <a:lstStyle/>
          <a:p>
            <a:pPr>
              <a:defRPr sz="2400"/>
            </a:pPr>
            <a:r>
              <a:t>Meetings are overscheduled and often unnecessary</a:t>
            </a:r>
          </a:p>
          <a:p>
            <a:pPr>
              <a:defRPr sz="2400"/>
            </a:pPr>
            <a:r>
              <a:t>New hires struggle with remote onboarding</a:t>
            </a:r>
          </a:p>
          <a:p>
            <a:pPr>
              <a:defRPr sz="2400"/>
            </a:pPr>
            <a:r>
              <a:t>29% would look elsewhere if remote options vanish</a:t>
            </a:r>
          </a:p>
          <a:p>
            <a:pPr>
              <a:defRPr sz="2400"/>
            </a:pPr>
            <a:r>
              <a:t>Commute time is the primary driver for preference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Steps to Optimize Our Hybrid Model</a:t>
            </a:r>
          </a:p>
        </p:txBody>
      </p:sp>
      <p:sp>
        <p:nvSpPr>
          <p:cNvPr id="3" name="Content Placeholder 2"/>
          <p:cNvSpPr>
            <a:spLocks noGrp="1"/>
          </p:cNvSpPr>
          <p:nvPr>
            <p:ph idx="1"/>
          </p:nvPr>
        </p:nvSpPr>
        <p:spPr/>
        <p:txBody>
          <a:bodyPr/>
          <a:lstStyle/>
          <a:p>
            <a:pPr>
              <a:defRPr sz="2400"/>
            </a:pPr>
            <a:r>
              <a:t>Adopt hybrid as the default work structure</a:t>
            </a:r>
          </a:p>
          <a:p>
            <a:pPr>
              <a:defRPr sz="2400"/>
            </a:pPr>
            <a:r>
              <a:t>Implement structured in-person onboarding</a:t>
            </a:r>
          </a:p>
          <a:p>
            <a:pPr>
              <a:defRPr sz="2400"/>
            </a:pPr>
            <a:r>
              <a:t>Mandate meeting audits and focus blocks</a:t>
            </a:r>
          </a:p>
          <a:p>
            <a:pPr>
              <a:defRPr sz="2400"/>
            </a:pPr>
            <a:r>
              <a:t>Fund quarterly team gatherings for remote staff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The Future of Work</a:t>
            </a:r>
          </a:p>
        </p:txBody>
      </p:sp>
      <p:sp>
        <p:nvSpPr>
          <p:cNvPr id="3" name="Content Placeholder 2"/>
          <p:cNvSpPr>
            <a:spLocks noGrp="1"/>
          </p:cNvSpPr>
          <p:nvPr>
            <p:ph idx="1"/>
          </p:nvPr>
        </p:nvSpPr>
        <p:spPr/>
        <p:txBody>
          <a:bodyPr/>
          <a:lstStyle/>
          <a:p>
            <a:pPr>
              <a:defRPr sz="2400"/>
            </a:pPr>
            <a:r>
              <a:t>Flexibility is non-negotiable for retention</a:t>
            </a:r>
          </a:p>
          <a:p>
            <a:pPr>
              <a:defRPr sz="2400"/>
            </a:pPr>
            <a:r>
              <a:t>Proactive effort is needed to prevent isolation</a:t>
            </a:r>
          </a:p>
          <a:p>
            <a:pPr>
              <a:defRPr sz="2400"/>
            </a:pPr>
            <a:r>
              <a:t>Optimize meetings and focus on deep work</a:t>
            </a:r>
          </a:p>
          <a:p>
            <a:pPr>
              <a:defRPr sz="2400"/>
            </a:pPr>
            <a:r>
              <a:t>Hybrid must be supported by structured connection points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