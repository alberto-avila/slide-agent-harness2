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discussing how we can leverage advanced AI to transform how we access and use our company's vast knowledge base. Our goal is not just to adopt AI, but to adopt *reliable* AI that mitigates risk and drives accurate, actionable insights across the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our knowledge is scattered across multiple systems, and general-purpose AI models cannot access our proprietary, up-to-date data. When they try to answer questions, they often 'hallucinate'—meaning they generate plausible but factually incorrect information. This is a significant risk because these incorrect answers can lead to flawed business decisions, compliance issues, and erode trust in our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fundamentally changes how AI answers questions. Instead of letting the AI generate an answer purely from its general training data—which is outdated and generic—RAG first acts like a sophisticated research assistant. It searches our internal knowledge base for the most relevant, up-to-date documents. Then, it feeds those specific documents to the AI, which is instructed: 'Answer the user's question *only* using the facts provided here.' This grounding mechanism is key to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of RAG is not just better answers; it's measurable business impact. By providing accurate, instant answers, we can significantly reduce the time employees spend searching for information. This translates directly to increased productivity and reduced operational risk. However, we must be clear: RAG does not solve everything. Its success depends heavily on the quality and freshness of our underlying data, and we must invest in governance and cleanup processes.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not implement this company-wide overnight. I propose a bounded pilot. We should select a department or function where knowledge access is critical, like Legal or HR. Over a defined period, we will establish clear baseline metrics—for example, how long it currently takes to answer a specific type of query, or the current error rate. We will measure RAG's performance against this baseline to prove its value before committing to a full rollout.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RAG offers a path to reliable, scalable AI knowledge access. I recommend we move forward by approving the bounded pilot program immediately. This requires forming a cross-functional task force—bringing together IT, Legal, and Operations—to manage the data cleanup and governance. By focusing on these prerequisites, we can ensure that our AI investment provides maximum, measurable ROI and significantly reduces our operational risk.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Enhancing Knowledge Accuracy with RAG</a:t>
            </a:r>
          </a:p>
        </p:txBody>
      </p:sp>
      <p:sp>
        <p:nvSpPr>
          <p:cNvPr id="3" name="Subtitle 2"/>
          <p:cNvSpPr>
            <a:spLocks noGrp="1"/>
          </p:cNvSpPr>
          <p:nvPr>
            <p:ph type="subTitle" idx="1"/>
          </p:nvPr>
        </p:nvSpPr>
        <p:spPr/>
        <p:txBody>
          <a:bodyPr/>
          <a:lstStyle/>
          <a:p>
            <a:r>
              <a:t>A Path to Reliable AI-Powered 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Challenge: Scaling Knowledge and Reducing Risk</a:t>
            </a:r>
          </a:p>
        </p:txBody>
      </p:sp>
      <p:sp>
        <p:nvSpPr>
          <p:cNvPr id="3" name="Content Placeholder 2"/>
          <p:cNvSpPr>
            <a:spLocks noGrp="1"/>
          </p:cNvSpPr>
          <p:nvPr>
            <p:ph idx="1"/>
          </p:nvPr>
        </p:nvSpPr>
        <p:spPr/>
        <p:txBody>
          <a:bodyPr/>
          <a:lstStyle/>
          <a:p>
            <a:pPr>
              <a:defRPr sz="2400"/>
            </a:pPr>
            <a:r>
              <a:t>Current AI models struggle with proprietary data</a:t>
            </a:r>
          </a:p>
          <a:p>
            <a:pPr>
              <a:defRPr sz="2400"/>
            </a:pPr>
            <a:r>
              <a:t>Knowledge silos lead to inconsistent answers</a:t>
            </a:r>
          </a:p>
          <a:p>
            <a:pPr>
              <a:defRPr sz="2400"/>
            </a:pPr>
            <a:r>
              <a:t>Hallucinations risk making incorrect business decisions</a:t>
            </a:r>
          </a:p>
          <a:p>
            <a:pPr>
              <a:defRPr sz="2400"/>
            </a:pPr>
            <a:r>
              <a:t>Manual verification is slow and costly</a:t>
            </a:r>
          </a:p>
          <a:p>
            <a:pPr>
              <a:defRPr sz="2400"/>
            </a:pPr>
            <a:r>
              <a:t>Compliance risks increase with unreliable 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RAG? Grounding AI in Our Data</a:t>
            </a:r>
          </a:p>
        </p:txBody>
      </p:sp>
      <p:sp>
        <p:nvSpPr>
          <p:cNvPr id="3" name="Content Placeholder 2"/>
          <p:cNvSpPr>
            <a:spLocks noGrp="1"/>
          </p:cNvSpPr>
          <p:nvPr>
            <p:ph idx="1"/>
          </p:nvPr>
        </p:nvSpPr>
        <p:spPr/>
        <p:txBody>
          <a:bodyPr/>
          <a:lstStyle/>
          <a:p>
            <a:pPr>
              <a:defRPr sz="2400"/>
            </a:pPr>
            <a:r>
              <a:t>Retrieval finds relevant company documents first</a:t>
            </a:r>
          </a:p>
          <a:p>
            <a:pPr>
              <a:defRPr sz="2400"/>
            </a:pPr>
            <a:r>
              <a:t>AI uses these facts to formulate an answer</a:t>
            </a:r>
          </a:p>
          <a:p>
            <a:pPr>
              <a:defRPr sz="2400"/>
            </a:pPr>
            <a:r>
              <a:t>It prevents the model from guessing or hallucinating</a:t>
            </a:r>
          </a:p>
          <a:p>
            <a:pPr>
              <a:defRPr sz="2400"/>
            </a:pPr>
            <a:r>
              <a:t>It provides clear sources for every claim made</a:t>
            </a:r>
          </a:p>
          <a:p>
            <a:pPr>
              <a:defRPr sz="2400"/>
            </a:pPr>
            <a:r>
              <a:t>It keeps the core AI model intact and reliable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Value Proposition: Measurable Business Impact</a:t>
            </a:r>
          </a:p>
        </p:txBody>
      </p:sp>
      <p:sp>
        <p:nvSpPr>
          <p:cNvPr id="3" name="Content Placeholder 2"/>
          <p:cNvSpPr>
            <a:spLocks noGrp="1"/>
          </p:cNvSpPr>
          <p:nvPr>
            <p:ph idx="1"/>
          </p:nvPr>
        </p:nvSpPr>
        <p:spPr/>
        <p:txBody>
          <a:bodyPr/>
          <a:lstStyle/>
          <a:p>
            <a:pPr>
              <a:defRPr sz="2400"/>
            </a:pPr>
            <a:r>
              <a:t>Faster time-to-answer for employees</a:t>
            </a:r>
          </a:p>
          <a:p>
            <a:pPr>
              <a:defRPr sz="2400"/>
            </a:pPr>
            <a:r>
              <a:t>Reduced operational risk from inaccuracies</a:t>
            </a:r>
          </a:p>
          <a:p>
            <a:pPr>
              <a:defRPr sz="2400"/>
            </a:pPr>
            <a:r>
              <a:t>Improved employee efficiency and productivity</a:t>
            </a:r>
          </a:p>
          <a:p>
            <a:pPr>
              <a:defRPr sz="2400"/>
            </a:pPr>
            <a:r>
              <a:t>Ability to scale knowledge access rapidly</a:t>
            </a:r>
          </a:p>
          <a:p>
            <a:pPr>
              <a:defRPr sz="2400"/>
            </a:pPr>
            <a:r>
              <a:t>Requires strong data governance and cleanup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Pilot Plan: Testing RAG in a Bounded Scope</a:t>
            </a:r>
          </a:p>
        </p:txBody>
      </p:sp>
      <p:sp>
        <p:nvSpPr>
          <p:cNvPr id="3" name="Content Placeholder 2"/>
          <p:cNvSpPr>
            <a:spLocks noGrp="1"/>
          </p:cNvSpPr>
          <p:nvPr>
            <p:ph idx="1"/>
          </p:nvPr>
        </p:nvSpPr>
        <p:spPr/>
        <p:txBody>
          <a:bodyPr/>
          <a:lstStyle/>
          <a:p>
            <a:pPr>
              <a:defRPr sz="2400"/>
            </a:pPr>
            <a:r>
              <a:t>Select a high-impact, contained department (e.g., Legal)</a:t>
            </a:r>
          </a:p>
          <a:p>
            <a:pPr>
              <a:defRPr sz="2400"/>
            </a:pPr>
            <a:r>
              <a:t>Define clear baseline metrics (e.g., search time, error rate)</a:t>
            </a:r>
          </a:p>
          <a:p>
            <a:pPr>
              <a:defRPr sz="2400"/>
            </a:pPr>
            <a:r>
              <a:t>Pilot duration: 3 months, focused scope</a:t>
            </a:r>
          </a:p>
          <a:p>
            <a:pPr>
              <a:defRPr sz="2400"/>
            </a:pPr>
            <a:r>
              <a:t>Measure accuracy, user adoption, and time savings</a:t>
            </a:r>
          </a:p>
          <a:p>
            <a:pPr>
              <a:defRPr sz="2400"/>
            </a:pPr>
            <a:r>
              <a:t>Establish clear success thresholds before scaling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Next Steps for AI Adoption</a:t>
            </a:r>
          </a:p>
        </p:txBody>
      </p:sp>
      <p:sp>
        <p:nvSpPr>
          <p:cNvPr id="3" name="Content Placeholder 2"/>
          <p:cNvSpPr>
            <a:spLocks noGrp="1"/>
          </p:cNvSpPr>
          <p:nvPr>
            <p:ph idx="1"/>
          </p:nvPr>
        </p:nvSpPr>
        <p:spPr/>
        <p:txBody>
          <a:bodyPr/>
          <a:lstStyle/>
          <a:p>
            <a:pPr>
              <a:defRPr sz="2400"/>
            </a:pPr>
            <a:r>
              <a:t>Approve funding for the bounded pilot program</a:t>
            </a:r>
          </a:p>
          <a:p>
            <a:pPr>
              <a:defRPr sz="2400"/>
            </a:pPr>
            <a:r>
              <a:t>Form an internal cross-functional task force</a:t>
            </a:r>
          </a:p>
          <a:p>
            <a:pPr>
              <a:defRPr sz="2400"/>
            </a:pPr>
            <a:r>
              <a:t>Prioritize data cleanup and governance initiatives</a:t>
            </a:r>
          </a:p>
          <a:p>
            <a:pPr>
              <a:defRPr sz="2400"/>
            </a:pPr>
            <a:r>
              <a:t>Focus on measurable ROI and risk mitigation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