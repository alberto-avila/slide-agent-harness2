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Set the stage and assert the core thesis. The key takeaway for the executive is that AI is not a toy; it must be integrated with our proprietary data to deliver measurable business value. We are moving from experimental AI to production-grade 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is that off-the-shelf LLMs are trained on public data and do not know our business. They cannot access our internal documents, policies, or databases. This lack of context means any AI output is likely incomplete or incorrect for our specific needs. We need a way to ground the AI in our truth.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mechanism simply: instead of asking the AI to 'remember' everything, we first give it the right documents (Retrieval), then it uses those documents to write the answer (Generation). This process is like having a highly skilled employee who must read the specific policy manual before answering a question. This is the key differentiator from standard LLMs.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on the 'why it matters' for the executive. Instead of talking about embeddings or vectors, talk about outcomes: faster time-to-answer, reduced compliance risk, and improved employee efficiency. Frame these as potential gains that require testing.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message here is risk mitigation. We are not proposing a company-wide rollout. We are proposing a small, contained experiment. We must define success metrics *before* we start, so the pilot is accountable and measurable. This makes the investment manageable and the results actionable.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ask. The recommendation is not 'adopt RAG,' but 'approve a pilot to *test* RAG.' This lowers the commitment barrier and focuses the executive decision on resource allocation for a limited time. The final takeaway is that the next decision point is the pilot's success, not the technology's adoption itself.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Adoption Unlocks Measurable Enterprise AI Value</a:t>
            </a:r>
          </a:p>
        </p:txBody>
      </p:sp>
      <p:sp>
        <p:nvSpPr>
          <p:cNvPr id="3" name="Content Placeholder 2"/>
          <p:cNvSpPr>
            <a:spLocks noGrp="1"/>
          </p:cNvSpPr>
          <p:nvPr>
            <p:ph idx="1"/>
          </p:nvPr>
        </p:nvSpPr>
        <p:spPr/>
        <p:txBody>
          <a:bodyPr/>
          <a:lstStyle/>
          <a:p>
            <a:pPr>
              <a:defRPr sz="2400"/>
            </a:pPr>
            <a:r>
              <a:t>Adopting RAG is critical for achieving reliable, governed AI.</a:t>
            </a:r>
          </a:p>
          <a:p>
            <a:pPr>
              <a:defRPr sz="2400"/>
            </a:pPr>
            <a:r>
              <a:t>Moving beyond simple chatbots to actionable intelligence.</a:t>
            </a:r>
          </a:p>
          <a:p>
            <a:pPr>
              <a:defRPr sz="2400"/>
            </a:pPr>
            <a:r>
              <a:t>A strategic investment to maximize existing data assets.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Current Data Infrastructure Limits AI Potential</a:t>
            </a:r>
          </a:p>
        </p:txBody>
      </p:sp>
      <p:sp>
        <p:nvSpPr>
          <p:cNvPr id="3" name="Content Placeholder 2"/>
          <p:cNvSpPr>
            <a:spLocks noGrp="1"/>
          </p:cNvSpPr>
          <p:nvPr>
            <p:ph idx="1"/>
          </p:nvPr>
        </p:nvSpPr>
        <p:spPr/>
        <p:txBody>
          <a:bodyPr/>
          <a:lstStyle/>
          <a:p>
            <a:pPr>
              <a:defRPr sz="2400"/>
            </a:pPr>
            <a:r>
              <a:t>AI models lack access to proprietary, internal knowledge.</a:t>
            </a:r>
          </a:p>
          <a:p>
            <a:pPr>
              <a:defRPr sz="2400"/>
            </a:pPr>
            <a:r>
              <a:t>Generic models struggle with company-specific jargon and policies.</a:t>
            </a:r>
          </a:p>
          <a:p>
            <a:pPr>
              <a:defRPr sz="2400"/>
            </a:pPr>
            <a:r>
              <a:t>Data silos prevent a unified, comprehensive 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Grounds AI in Our Company Knowledge</a:t>
            </a:r>
          </a:p>
        </p:txBody>
      </p:sp>
      <p:sp>
        <p:nvSpPr>
          <p:cNvPr id="3" name="Content Placeholder 2"/>
          <p:cNvSpPr>
            <a:spLocks noGrp="1"/>
          </p:cNvSpPr>
          <p:nvPr>
            <p:ph idx="1"/>
          </p:nvPr>
        </p:nvSpPr>
        <p:spPr/>
        <p:txBody>
          <a:bodyPr/>
          <a:lstStyle/>
          <a:p>
            <a:pPr>
              <a:defRPr sz="2400"/>
            </a:pPr>
            <a:r>
              <a:t>Retrieves relevant internal documents before generating answers.</a:t>
            </a:r>
          </a:p>
          <a:p>
            <a:pPr>
              <a:defRPr sz="2400"/>
            </a:pPr>
            <a:r>
              <a:t>Adds specific context to the AI's response.</a:t>
            </a:r>
          </a:p>
          <a:p>
            <a:pPr>
              <a:defRPr sz="2400"/>
            </a:pPr>
            <a:r>
              <a:t>Significantly reduces reliance on general, public knowledge.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Can Accelerate Specific Business Functions</a:t>
            </a:r>
          </a:p>
        </p:txBody>
      </p:sp>
      <p:sp>
        <p:nvSpPr>
          <p:cNvPr id="3" name="Content Placeholder 2"/>
          <p:cNvSpPr>
            <a:spLocks noGrp="1"/>
          </p:cNvSpPr>
          <p:nvPr>
            <p:ph idx="1"/>
          </p:nvPr>
        </p:nvSpPr>
        <p:spPr/>
        <p:txBody>
          <a:bodyPr/>
          <a:lstStyle/>
          <a:p>
            <a:pPr>
              <a:defRPr sz="2400"/>
            </a:pPr>
            <a:r>
              <a:t>Improve compliance by citing internal policies accurately.</a:t>
            </a:r>
          </a:p>
          <a:p>
            <a:pPr>
              <a:defRPr sz="2400"/>
            </a:pPr>
            <a:r>
              <a:t>Streamline operations through instant knowledge retrieval.</a:t>
            </a:r>
          </a:p>
          <a:p>
            <a:pPr>
              <a:defRPr sz="2400"/>
            </a:pPr>
            <a:r>
              <a:t>Empower employees with immediate, accurate answers.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 Should Start with a Bounded, Measurable Pilot</a:t>
            </a:r>
          </a:p>
        </p:txBody>
      </p:sp>
      <p:sp>
        <p:nvSpPr>
          <p:cNvPr id="3" name="Content Placeholder 2"/>
          <p:cNvSpPr>
            <a:spLocks noGrp="1"/>
          </p:cNvSpPr>
          <p:nvPr>
            <p:ph idx="1"/>
          </p:nvPr>
        </p:nvSpPr>
        <p:spPr/>
        <p:txBody>
          <a:bodyPr/>
          <a:lstStyle/>
          <a:p>
            <a:pPr>
              <a:defRPr sz="2400"/>
            </a:pPr>
            <a:r>
              <a:t>Define a narrow scope (e.g., HR policy or IT support).</a:t>
            </a:r>
          </a:p>
          <a:p>
            <a:pPr>
              <a:defRPr sz="2400"/>
            </a:pPr>
            <a:r>
              <a:t>Establish a clear baseline performance metric (e.g., time-to-answer).</a:t>
            </a:r>
          </a:p>
          <a:p>
            <a:pPr>
              <a:defRPr sz="2400"/>
            </a:pPr>
            <a:r>
              <a:t>Measure RAG performance against current manual processes.</a:t>
            </a:r>
          </a:p>
          <a:p>
            <a:pPr>
              <a:defRPr sz="2400"/>
            </a:pPr>
            <a:r>
              <a:t>Iteratively expand success into adjacent departments.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Approving a Focused RAG Pilot Program</a:t>
            </a:r>
          </a:p>
        </p:txBody>
      </p:sp>
      <p:sp>
        <p:nvSpPr>
          <p:cNvPr id="3" name="Content Placeholder 2"/>
          <p:cNvSpPr>
            <a:spLocks noGrp="1"/>
          </p:cNvSpPr>
          <p:nvPr>
            <p:ph idx="1"/>
          </p:nvPr>
        </p:nvSpPr>
        <p:spPr/>
        <p:txBody>
          <a:bodyPr/>
          <a:lstStyle/>
          <a:p>
            <a:pPr>
              <a:defRPr sz="2400"/>
            </a:pPr>
            <a:r>
              <a:t>Approve funding for a 90-day pilot on [Specific Department/Topic].</a:t>
            </a:r>
          </a:p>
          <a:p>
            <a:pPr>
              <a:defRPr sz="2400"/>
            </a:pPr>
            <a:r>
              <a:t>Assign cross-functional team leads (IT, Legal, Operations).</a:t>
            </a:r>
          </a:p>
          <a:p>
            <a:pPr>
              <a:defRPr sz="2400"/>
            </a:pPr>
            <a:r>
              <a:t>Define clear success metrics and reporting cadence.</a:t>
            </a:r>
          </a:p>
          <a:p>
            <a:pPr>
              <a:defRPr sz="2400"/>
            </a:pPr>
            <a:r>
              <a:t>Review initial findings to plan enterprise rollout.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