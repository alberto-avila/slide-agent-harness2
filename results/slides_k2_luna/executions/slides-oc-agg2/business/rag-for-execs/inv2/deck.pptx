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we are going to discuss a critical topic: how to make our AI investments actually work for us. We are moving beyond simple AI adoption and focusing on making it reliable, accurate, and trustworthy. The solution we propose is called Retrieval-Augmented Generation, or RAG. This presentation will show you why RAG is the necessary next step for our business growth.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challenge with off-the-shelf LLMs is that they are trained on vast, public datasets. While powerful, this means they can 'hallucinate'—meaning they confidently state something that is factually incorrect. They also don't know about our internal policies, our latest sales figures, or our proprietary research. This lack of grounding creates significant business risk and erodes trust.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RAG? Think of it like this: instead of asking the AI to answer from its general memory, we first give it a specialized, curated library—our company documents. RAG works in two steps: first, it 'retrieves' the most relevant facts from that library. Second, it 'generates' the answer using *only* those retrieved facts. This process makes the AI factual, traceable, and relevant to 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benefits are immediate and measurable. By grounding the AI in our data, we significantly reduce the risk of costly errors. Employees can get instant, accurate answers to complex questions, which dramatically speeds up workflows. Most importantly, it builds trust. When our teams trust the AI, they adopt it, and we unlock the full potential of our digital transformation.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need to flip a switch and implement this everywhere at once. We recommend a phased approach. We start small, perhaps with a pilot project in Legal or HR, where the data is contained and the need for accuracy is critical. Once we prove the value in a controlled environment, we expand incrementally, minimizing risk and maximizing adoption.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RAG is not just a technical upgrade; it is a strategic necessity for managing risk and unlocking growth. Our immediate next step is to approve funding for a focused pilot program. We need to identify the single most painful, data-intensive problem area and apply RAG there. I recommend forming a cross-functional task force—bringing together IT, Legal, and Operations—to guide this effort and ensure alignment across the business.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Enhancing AI Accuracy with RAG</a:t>
            </a:r>
          </a:p>
        </p:txBody>
      </p:sp>
      <p:sp>
        <p:nvSpPr>
          <p:cNvPr id="3" name="Content Placeholder 2"/>
          <p:cNvSpPr>
            <a:spLocks noGrp="1"/>
          </p:cNvSpPr>
          <p:nvPr>
            <p:ph idx="1"/>
          </p:nvPr>
        </p:nvSpPr>
        <p:spPr/>
        <p:txBody>
          <a:bodyPr/>
          <a:lstStyle/>
          <a:p>
            <a:pPr>
              <a:defRPr sz="2400"/>
            </a:pPr>
            <a:r>
              <a:t>A practical path to reliable, enterprise-grade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Risks: Why current LLMs are unreliable</a:t>
            </a:r>
          </a:p>
        </p:txBody>
      </p:sp>
      <p:sp>
        <p:nvSpPr>
          <p:cNvPr id="3" name="Content Placeholder 2"/>
          <p:cNvSpPr>
            <a:spLocks noGrp="1"/>
          </p:cNvSpPr>
          <p:nvPr>
            <p:ph idx="1"/>
          </p:nvPr>
        </p:nvSpPr>
        <p:spPr/>
        <p:txBody>
          <a:bodyPr/>
          <a:lstStyle/>
          <a:p>
            <a:pPr>
              <a:defRPr sz="2400"/>
            </a:pPr>
            <a:r>
              <a:t>Generating inaccurate or false information</a:t>
            </a:r>
          </a:p>
          <a:p>
            <a:pPr>
              <a:defRPr sz="2400"/>
            </a:pPr>
            <a:r>
              <a:t>Lacking context on proprietary data</a:t>
            </a:r>
          </a:p>
          <a:p>
            <a:pPr>
              <a:defRPr sz="2400"/>
            </a:pPr>
            <a:r>
              <a:t>Providing outdated or incomplete answers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Grounding AI in our company knowledge</a:t>
            </a:r>
          </a:p>
        </p:txBody>
      </p:sp>
      <p:sp>
        <p:nvSpPr>
          <p:cNvPr id="3" name="Content Placeholder 2"/>
          <p:cNvSpPr>
            <a:spLocks noGrp="1"/>
          </p:cNvSpPr>
          <p:nvPr>
            <p:ph idx="1"/>
          </p:nvPr>
        </p:nvSpPr>
        <p:spPr/>
        <p:txBody>
          <a:bodyPr/>
          <a:lstStyle/>
          <a:p>
            <a:pPr>
              <a:defRPr sz="2400"/>
            </a:pPr>
            <a:r>
              <a:t>Retrieving relevant internal documents first</a:t>
            </a:r>
          </a:p>
          <a:p>
            <a:pPr>
              <a:defRPr sz="2400"/>
            </a:pPr>
            <a:r>
              <a:t>Using facts to inform the AI's answer</a:t>
            </a:r>
          </a:p>
          <a:p>
            <a:pPr>
              <a:defRPr sz="2400"/>
            </a:pPr>
            <a:r>
              <a:t>Generating responses that are accurate and traceable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Value: Boosting accuracy and trust</a:t>
            </a:r>
          </a:p>
        </p:txBody>
      </p:sp>
      <p:sp>
        <p:nvSpPr>
          <p:cNvPr id="3" name="Content Placeholder 2"/>
          <p:cNvSpPr>
            <a:spLocks noGrp="1"/>
          </p:cNvSpPr>
          <p:nvPr>
            <p:ph idx="1"/>
          </p:nvPr>
        </p:nvSpPr>
        <p:spPr/>
        <p:txBody>
          <a:bodyPr/>
          <a:lstStyle/>
          <a:p>
            <a:pPr>
              <a:defRPr sz="2400"/>
            </a:pPr>
            <a:r>
              <a:t>Reducing operational risk from errors</a:t>
            </a:r>
          </a:p>
          <a:p>
            <a:pPr>
              <a:defRPr sz="2400"/>
            </a:pPr>
            <a:r>
              <a:t>Accelerating employee knowledge access</a:t>
            </a:r>
          </a:p>
          <a:p>
            <a:pPr>
              <a:defRPr sz="2400"/>
            </a:pPr>
            <a:r>
              <a:t>Building internal confidence in AI tools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Strategy: A phased approach to adoption</a:t>
            </a:r>
          </a:p>
        </p:txBody>
      </p:sp>
      <p:sp>
        <p:nvSpPr>
          <p:cNvPr id="3" name="Content Placeholder 2"/>
          <p:cNvSpPr>
            <a:spLocks noGrp="1"/>
          </p:cNvSpPr>
          <p:nvPr>
            <p:ph idx="1"/>
          </p:nvPr>
        </p:nvSpPr>
        <p:spPr/>
        <p:txBody>
          <a:bodyPr/>
          <a:lstStyle/>
          <a:p>
            <a:pPr>
              <a:defRPr sz="2400"/>
            </a:pPr>
            <a:r>
              <a:t>Phase 1: Pilot with high-value departments</a:t>
            </a:r>
          </a:p>
          <a:p>
            <a:pPr>
              <a:defRPr sz="2400"/>
            </a:pPr>
            <a:r>
              <a:t>Phase 2: Expand to core operational areas</a:t>
            </a:r>
          </a:p>
          <a:p>
            <a:pPr>
              <a:defRPr sz="2400"/>
            </a:pPr>
            <a:r>
              <a:t>Phase 3: Full integration across the enterprise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Making AI reliable for our business</a:t>
            </a:r>
          </a:p>
        </p:txBody>
      </p:sp>
      <p:sp>
        <p:nvSpPr>
          <p:cNvPr id="3" name="Content Placeholder 2"/>
          <p:cNvSpPr>
            <a:spLocks noGrp="1"/>
          </p:cNvSpPr>
          <p:nvPr>
            <p:ph idx="1"/>
          </p:nvPr>
        </p:nvSpPr>
        <p:spPr/>
        <p:txBody>
          <a:bodyPr/>
          <a:lstStyle/>
          <a:p>
            <a:pPr>
              <a:defRPr sz="2400"/>
            </a:pPr>
            <a:r>
              <a:t>Approve funding for a pilot project</a:t>
            </a:r>
          </a:p>
          <a:p>
            <a:pPr>
              <a:defRPr sz="2400"/>
            </a:pPr>
            <a:r>
              <a:t>Identify initial high-value use cases</a:t>
            </a:r>
          </a:p>
          <a:p>
            <a:pPr>
              <a:defRPr sz="2400"/>
            </a:pPr>
            <a:r>
              <a:t>Form a cross-functional AI task force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