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we're talking about making our AI investments truly reliable. We're moving beyond the hype and focusing on how to make AI accurate, trustworthy, and directly useful to our core business knowledge base. This is how we achieve true enterprise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with current, off-the-shelf AI models is that they 'hallucinate.' They sound confident, but the information is wrong. For us, this means potential compliance breaches, and worse, it erodes trust in the system. They don't know our internal rules or our specific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to stop treating the AI as a general knowledge source and start treating it as a smart search engine that uses our data. RAG allows us to 'ground' the AI in our own documents—our policies, our reports, our manuals. This makes the output verifiable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worry about the deep technical details. Think of it like this: when you ask a question, RAG first searches our entire document library for the most relevant passages. Then, it hands those passages to the AI, which uses them as context to write the answer. It's a search first, then generate approach.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massive. We move from 'maybe' to 'fact.' This means faster decisions, less time wasted searching through shared drives, and critically, we can prove where our answers came from for compliance. It turns data into actionable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boil the ocean. I recommend starting with a small, high-impact pilot—maybe the legal or HR department—to prove the value quickly. This phased approach minimizes risk and maximizes return on investment.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Enhancing AI Accuracy with Retrieval-Augmented Generation</a:t>
            </a:r>
          </a:p>
        </p:txBody>
      </p:sp>
      <p:sp>
        <p:nvSpPr>
          <p:cNvPr id="3" name="Subtitle 2"/>
          <p:cNvSpPr>
            <a:spLocks noGrp="1"/>
          </p:cNvSpPr>
          <p:nvPr>
            <p:ph type="subTitle" idx="1"/>
          </p:nvPr>
        </p:nvSpPr>
        <p:spPr/>
        <p:txBody>
          <a:bodyPr/>
          <a:lstStyle/>
          <a:p>
            <a:r>
              <a:t>Transforming AI from guesswork to reliable business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Hallucinations Risk Operational Trust and Compliance</a:t>
            </a:r>
          </a:p>
        </p:txBody>
      </p:sp>
      <p:sp>
        <p:nvSpPr>
          <p:cNvPr id="3" name="Content Placeholder 2"/>
          <p:cNvSpPr>
            <a:spLocks noGrp="1"/>
          </p:cNvSpPr>
          <p:nvPr>
            <p:ph idx="1"/>
          </p:nvPr>
        </p:nvSpPr>
        <p:spPr/>
        <p:txBody>
          <a:bodyPr/>
          <a:lstStyle/>
          <a:p>
            <a:pPr>
              <a:defRPr sz="2400"/>
            </a:pPr>
            <a:r>
              <a:t>Generating inaccurate or fabricated information</a:t>
            </a:r>
          </a:p>
          <a:p>
            <a:pPr>
              <a:defRPr sz="2400"/>
            </a:pPr>
            <a:r>
              <a:t>Lacking knowledge of internal company policies</a:t>
            </a:r>
          </a:p>
          <a:p>
            <a:pPr>
              <a:defRPr sz="2400"/>
            </a:pPr>
            <a:r>
              <a:t>Creating compliance and data security risks</a:t>
            </a:r>
          </a:p>
          <a:p>
            <a:pPr>
              <a:defRPr sz="2400"/>
            </a:pPr>
            <a:r>
              <a:t>Inability to cite specific source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Grounding AI in Proprietary Company Data</a:t>
            </a:r>
          </a:p>
        </p:txBody>
      </p:sp>
      <p:sp>
        <p:nvSpPr>
          <p:cNvPr id="3" name="Content Placeholder 2"/>
          <p:cNvSpPr>
            <a:spLocks noGrp="1"/>
          </p:cNvSpPr>
          <p:nvPr>
            <p:ph idx="1"/>
          </p:nvPr>
        </p:nvSpPr>
        <p:spPr/>
        <p:txBody>
          <a:bodyPr/>
          <a:lstStyle/>
          <a:p>
            <a:pPr>
              <a:defRPr sz="2400"/>
            </a:pPr>
            <a:r>
              <a:t>Connecting AI to our internal knowledge base</a:t>
            </a:r>
          </a:p>
          <a:p>
            <a:pPr>
              <a:defRPr sz="2400"/>
            </a:pPr>
            <a:r>
              <a:t>Providing verifiable and accurate answers</a:t>
            </a:r>
          </a:p>
          <a:p>
            <a:pPr>
              <a:defRPr sz="2400"/>
            </a:pPr>
            <a:r>
              <a:t>Mitigating risks of hallucination and error</a:t>
            </a:r>
          </a:p>
          <a:p>
            <a:pPr>
              <a:defRPr sz="2400"/>
            </a:pPr>
            <a:r>
              <a:t>Ensuring compliance with internal policies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A Simple Two-Step Process for Accuracy</a:t>
            </a:r>
          </a:p>
        </p:txBody>
      </p:sp>
      <p:sp>
        <p:nvSpPr>
          <p:cNvPr id="3" name="Content Placeholder 2"/>
          <p:cNvSpPr>
            <a:spLocks noGrp="1"/>
          </p:cNvSpPr>
          <p:nvPr>
            <p:ph idx="1"/>
          </p:nvPr>
        </p:nvSpPr>
        <p:spPr/>
        <p:txBody>
          <a:bodyPr/>
          <a:lstStyle/>
          <a:p>
            <a:pPr>
              <a:defRPr sz="2400"/>
            </a:pPr>
            <a:r>
              <a:t>Step 1: Retrieval - Finding relevant internal documents</a:t>
            </a:r>
          </a:p>
          <a:p>
            <a:pPr>
              <a:defRPr sz="2400"/>
            </a:pPr>
            <a:r>
              <a:t>Step 2: Augmentation - Using documents to generate answers</a:t>
            </a:r>
          </a:p>
          <a:p>
            <a:pPr>
              <a:defRPr sz="2400"/>
            </a:pPr>
            <a:r>
              <a:t>The AI uses our data, not just its general training</a:t>
            </a:r>
          </a:p>
          <a:p>
            <a:pPr>
              <a:defRPr sz="2400"/>
            </a:pPr>
            <a:r>
              <a:t>Result: Answers backed by specific source citations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Driving Value: Trustworthy AI for Core Business Goals</a:t>
            </a:r>
          </a:p>
        </p:txBody>
      </p:sp>
      <p:sp>
        <p:nvSpPr>
          <p:cNvPr id="3" name="Content Placeholder 2"/>
          <p:cNvSpPr>
            <a:spLocks noGrp="1"/>
          </p:cNvSpPr>
          <p:nvPr>
            <p:ph idx="1"/>
          </p:nvPr>
        </p:nvSpPr>
        <p:spPr/>
        <p:txBody>
          <a:bodyPr/>
          <a:lstStyle/>
          <a:p>
            <a:pPr>
              <a:defRPr sz="2400"/>
            </a:pPr>
            <a:r>
              <a:t>Improving decision-making speed and quality</a:t>
            </a:r>
          </a:p>
          <a:p>
            <a:pPr>
              <a:defRPr sz="2400"/>
            </a:pPr>
            <a:r>
              <a:t>Reducing time spent searching for information</a:t>
            </a:r>
          </a:p>
          <a:p>
            <a:pPr>
              <a:defRPr sz="2400"/>
            </a:pPr>
            <a:r>
              <a:t>Ensuring regulatory compliance automatically</a:t>
            </a:r>
          </a:p>
          <a:p>
            <a:pPr>
              <a:defRPr sz="2400"/>
            </a:pPr>
            <a:r>
              <a:t>Unlocking value from siloed corporate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 Phased Roadmap for RAG Adoption</a:t>
            </a:r>
          </a:p>
        </p:txBody>
      </p:sp>
      <p:sp>
        <p:nvSpPr>
          <p:cNvPr id="3" name="Content Placeholder 2"/>
          <p:cNvSpPr>
            <a:spLocks noGrp="1"/>
          </p:cNvSpPr>
          <p:nvPr>
            <p:ph idx="1"/>
          </p:nvPr>
        </p:nvSpPr>
        <p:spPr/>
        <p:txBody>
          <a:bodyPr/>
          <a:lstStyle/>
          <a:p>
            <a:pPr>
              <a:defRPr sz="2400"/>
            </a:pPr>
            <a:r>
              <a:t>Phase 1: Pilot project on a high-value department</a:t>
            </a:r>
          </a:p>
          <a:p>
            <a:pPr>
              <a:defRPr sz="2400"/>
            </a:pPr>
            <a:r>
              <a:t>Phase 2: Integrate into core operational workflows</a:t>
            </a:r>
          </a:p>
          <a:p>
            <a:pPr>
              <a:defRPr sz="2400"/>
            </a:pPr>
            <a:r>
              <a:t>Phase 3: Expand across all business units</a:t>
            </a:r>
          </a:p>
          <a:p>
            <a:pPr>
              <a:defRPr sz="2400"/>
            </a:pPr>
            <a:r>
              <a:t>Recommendation: Establish a dedicated AI governance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