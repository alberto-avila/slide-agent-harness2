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executive summary. We are not recommending full adoption, but a bounded pilot. The goal is to move from generalized AI exploration to a measurable, high-impact business use case. We need to prove value before scaling. The key takeaway is that the next step is a pilot, not a purchase order for a full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Our current process relies on employees remembering where information lives, or manually searching through disparate systems. This leads to 'tribal knowledge' silos. The impact is measurable: time wasted, incorrect decisions, and inconsistent customer/employee experiences. We need a reliable, single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Unlike general LLMs, which are trained on the public internet, RAG acts like an intelligent research assistant. It first searches our internal documents (the retrieval step) and then uses those specific documents to formulate the answer (the generation step). This grounding is critical because it makes the output traceable and verifiable. We must emphasize that RAG is a tool, not a decision-maker.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Simple search tools only give you a list of documents. RAG does the work of synthesizing that information and answering the question directly. This is a significant leap in capability. We are hypothesizing that this capability will reduce the time spent finding answers by X% and improve compliance by 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 recommend a tightly scoped pilot. We must define the scope: which department, which specific documents, and what measurable outcome. This avoids scope creep and allows us to prove ROI. We must also define the access controls and data governance upfront. This pilot is designed to prove the value, not to scale the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Our recommendation is clear: approve the pilot. This is a phased approach that manages risk. We are not asking for a full-scale rollout today. We must, however, acknowledge material open questions, such as the long-term maintenance of the source data and the full integration into existing workflows. These must be addressed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To summarize, we have identified a clear problem (knowledge gaps) and a promising solution (RAG). However, the complexity and risk require a controlled, phased approach. We are not recommending a full rollout; we are recommending a defined pilot to prove the value and manage the risk. This keeps the decision manageable and measurable.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Recommendation: Pilot RAG for Knowledge Retrieval</a:t>
            </a:r>
          </a:p>
        </p:txBody>
      </p:sp>
      <p:sp>
        <p:nvSpPr>
          <p:cNvPr id="3" name="Subtitle 2"/>
          <p:cNvSpPr>
            <a:spLocks noGrp="1"/>
          </p:cNvSpPr>
          <p:nvPr>
            <p:ph type="subTitle" idx="1"/>
          </p:nvPr>
        </p:nvSpPr>
        <p:spPr/>
        <p:txBody>
          <a:bodyPr/>
          <a:lstStyle/>
          <a:p>
            <a:r>
              <a:t>Piloting RAG will improve knowledge accuracy and efficiency.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Knowledge Gaps Hinder Operational Consistency</a:t>
            </a:r>
          </a:p>
        </p:txBody>
      </p:sp>
      <p:sp>
        <p:nvSpPr>
          <p:cNvPr id="3" name="Content Placeholder 2"/>
          <p:cNvSpPr>
            <a:spLocks noGrp="1"/>
          </p:cNvSpPr>
          <p:nvPr>
            <p:ph idx="1"/>
          </p:nvPr>
        </p:nvSpPr>
        <p:spPr/>
        <p:txBody>
          <a:bodyPr/>
          <a:lstStyle/>
          <a:p>
            <a:pPr>
              <a:defRPr sz="2400"/>
            </a:pPr>
            <a:r>
              <a:t>Information scattered across multiple systems</a:t>
            </a:r>
          </a:p>
          <a:p>
            <a:pPr>
              <a:defRPr sz="2400"/>
            </a:pPr>
            <a:r>
              <a:t>Difficulty finding definitive, single sources</a:t>
            </a:r>
          </a:p>
          <a:p>
            <a:pPr>
              <a:defRPr sz="2400"/>
            </a:pPr>
            <a:r>
              <a:t>High risk of outdated or conflicting data</a:t>
            </a:r>
          </a:p>
          <a:p>
            <a:pPr>
              <a:defRPr sz="2400"/>
            </a:pPr>
            <a:r>
              <a:t>Wasted employee time searching for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in Our Company Data</a:t>
            </a:r>
          </a:p>
        </p:txBody>
      </p:sp>
      <p:sp>
        <p:nvSpPr>
          <p:cNvPr id="3" name="Content Placeholder 2"/>
          <p:cNvSpPr>
            <a:spLocks noGrp="1"/>
          </p:cNvSpPr>
          <p:nvPr>
            <p:ph idx="1"/>
          </p:nvPr>
        </p:nvSpPr>
        <p:spPr/>
        <p:txBody>
          <a:bodyPr/>
          <a:lstStyle/>
          <a:p>
            <a:pPr>
              <a:defRPr sz="2400"/>
            </a:pPr>
            <a:r>
              <a:t>Retrieves relevant documents before generating answers</a:t>
            </a:r>
          </a:p>
          <a:p>
            <a:pPr>
              <a:defRPr sz="2400"/>
            </a:pPr>
            <a:r>
              <a:t>Connects AI to our authoritative, internal knowledge base</a:t>
            </a:r>
          </a:p>
          <a:p>
            <a:pPr>
              <a:defRPr sz="2400"/>
            </a:pPr>
            <a:r>
              <a:t>Provides citations for every generated answer</a:t>
            </a:r>
          </a:p>
          <a:p>
            <a:pPr>
              <a:defRPr sz="2400"/>
            </a:pPr>
            <a:r>
              <a:t>Does not replace human expertise or judgment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Improves Accuracy Beyond Simple Search</a:t>
            </a:r>
          </a:p>
        </p:txBody>
      </p:sp>
      <p:sp>
        <p:nvSpPr>
          <p:cNvPr id="3" name="Content Placeholder 2"/>
          <p:cNvSpPr>
            <a:spLocks noGrp="1"/>
          </p:cNvSpPr>
          <p:nvPr>
            <p:ph idx="1"/>
          </p:nvPr>
        </p:nvSpPr>
        <p:spPr/>
        <p:txBody>
          <a:bodyPr/>
          <a:lstStyle/>
          <a:p>
            <a:pPr>
              <a:defRPr sz="2400"/>
            </a:pPr>
            <a:r>
              <a:t>Synthesizes answers from multiple sources</a:t>
            </a:r>
          </a:p>
          <a:p>
            <a:pPr>
              <a:defRPr sz="2400"/>
            </a:pPr>
            <a:r>
              <a:t>Reduces reliance on manual interpretation</a:t>
            </a:r>
          </a:p>
          <a:p>
            <a:pPr>
              <a:defRPr sz="2400"/>
            </a:pPr>
            <a:r>
              <a:t>Identifies connections across documents</a:t>
            </a:r>
          </a:p>
          <a:p>
            <a:pPr>
              <a:defRPr sz="2400"/>
            </a:pPr>
            <a:r>
              <a:t>Superior to basic keyword search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Pilot Plan: Refining Knowledge Search for [Specific Dept]</a:t>
            </a:r>
          </a:p>
        </p:txBody>
      </p:sp>
      <p:sp>
        <p:nvSpPr>
          <p:cNvPr id="3" name="Content Placeholder 2"/>
          <p:cNvSpPr>
            <a:spLocks noGrp="1"/>
          </p:cNvSpPr>
          <p:nvPr>
            <p:ph idx="1"/>
          </p:nvPr>
        </p:nvSpPr>
        <p:spPr/>
        <p:txBody>
          <a:bodyPr/>
          <a:lstStyle/>
          <a:p>
            <a:pPr>
              <a:defRPr sz="2400"/>
            </a:pPr>
            <a:r>
              <a:t>Use Case: Answering complex policy questions</a:t>
            </a:r>
          </a:p>
          <a:p>
            <a:pPr>
              <a:defRPr sz="2400"/>
            </a:pPr>
            <a:r>
              <a:t>Data Source: [Specific, authoritative] internal policy documents</a:t>
            </a:r>
          </a:p>
          <a:p>
            <a:pPr>
              <a:defRPr sz="2400"/>
            </a:pPr>
            <a:r>
              <a:t>Owner: [Department Head] (Accountability)</a:t>
            </a:r>
          </a:p>
          <a:p>
            <a:pPr>
              <a:defRPr sz="2400"/>
            </a:pPr>
            <a:r>
              <a:t>Baseline Metric: Time to answer policy query</a:t>
            </a:r>
          </a:p>
          <a:p>
            <a:pPr>
              <a:defRPr sz="2400"/>
            </a:pPr>
            <a:r>
              <a:t>Success Measure: Reduction in incorrect policy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 Needed: Proceed with Bounded Pilot</a:t>
            </a:r>
          </a:p>
        </p:txBody>
      </p:sp>
      <p:sp>
        <p:nvSpPr>
          <p:cNvPr id="3" name="Content Placeholder 2"/>
          <p:cNvSpPr>
            <a:spLocks noGrp="1"/>
          </p:cNvSpPr>
          <p:nvPr>
            <p:ph idx="1"/>
          </p:nvPr>
        </p:nvSpPr>
        <p:spPr/>
        <p:txBody>
          <a:bodyPr/>
          <a:lstStyle/>
          <a:p>
            <a:pPr>
              <a:defRPr sz="2400"/>
            </a:pPr>
            <a:r>
              <a:t>Approve funding and resources for the pilot phase</a:t>
            </a:r>
          </a:p>
          <a:p>
            <a:pPr>
              <a:defRPr sz="2400"/>
            </a:pPr>
            <a:r>
              <a:t>Define the specific scope and success metrics</a:t>
            </a:r>
          </a:p>
          <a:p>
            <a:pPr>
              <a:defRPr sz="2400"/>
            </a:pPr>
            <a:r>
              <a:t>Establish data governance and access controls first</a:t>
            </a:r>
          </a:p>
          <a:p>
            <a:pPr>
              <a:defRPr sz="2400"/>
            </a:pPr>
            <a:r>
              <a:t>Identify key dependencies (e.g., data cleanliness, owner buy-in)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Phased Adoption is the Path Forward</a:t>
            </a:r>
          </a:p>
        </p:txBody>
      </p:sp>
      <p:sp>
        <p:nvSpPr>
          <p:cNvPr id="3" name="Content Placeholder 2"/>
          <p:cNvSpPr>
            <a:spLocks noGrp="1"/>
          </p:cNvSpPr>
          <p:nvPr>
            <p:ph idx="1"/>
          </p:nvPr>
        </p:nvSpPr>
        <p:spPr/>
        <p:txBody>
          <a:bodyPr/>
          <a:lstStyle/>
          <a:p>
            <a:pPr>
              <a:defRPr sz="2400"/>
            </a:pPr>
            <a:r>
              <a:t>RAG solves knowledge inconsistency by grounding AI in internal data.</a:t>
            </a:r>
          </a:p>
          <a:p>
            <a:pPr>
              <a:defRPr sz="2400"/>
            </a:pPr>
            <a:r>
              <a:t>Value is proven through targeted, measurable pilots.</a:t>
            </a:r>
          </a:p>
          <a:p>
            <a:pPr>
              <a:defRPr sz="2400"/>
            </a:pPr>
            <a:r>
              <a:t>Adoption must be phased, starting with a bounded scope.</a:t>
            </a:r>
          </a:p>
          <a:p>
            <a:pPr>
              <a:defRPr sz="2400"/>
            </a:pPr>
            <a:r>
              <a:t>The next step is defining the pilot scope and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