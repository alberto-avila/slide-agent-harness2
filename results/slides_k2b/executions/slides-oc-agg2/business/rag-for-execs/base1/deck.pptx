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are discussing how to move beyond the hype of generative AI and implement it in a way that is reliable, trustworthy, and directly connected to our company's unique knowledge base. The goal is to mitigate risk while maximizing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the next few minutes, we will walk through a clear path. First, we'll address the current risks with off-the-shelf LLMs. Then, we'll introduce RAG as the solution, show how it uses our proprietary data, quantify the benefits, and finally, outline a practical implementation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risk with off-the-shelf LLMs is that they are trained on the public internet. They don't know about our specific policies, our client history, or our latest internal research. This leads to 'hallucinations'—making up facts—which is unacceptable when making business decisions. We need AI that is grounded in *our* truth.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generic LLM as a brilliant but unreliable student who reads everything on Wikipedia. RAG is like giving that student a curated, locked-down library containing only our company's best manuals and reports. The AI first *retrieves* the correct documents, and *then* it *generates* the answer based only on that vetted material. This dramatically increases accuracy and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critical difference. We aren't just feeding it data; we are building a structured knowledge graph around our most valuable assets—our internal documents. This ensures that every answer is relevant to *our* business context, whether it's a specific product line, a regional policy, or a client contract.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return on investment is not just about 'better AI.' It's about tangible business outcomes. We project significant reductions in time spent searching for information, fewer compliance errors due to hallucination, and faster decision cycles because the data is always accurate and cited.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recommend a phased approach. We don't need to overhaul everything at once. We should start with a small, contained pilot—perhaps the legal department or internal IT—to prove the concept and refine the process. This allows us to manage risk while building confidence and proving the ROI before scaling across the entire enterprise.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Securing AI Reliability for Business Growth</a:t>
            </a:r>
          </a:p>
        </p:txBody>
      </p:sp>
      <p:sp>
        <p:nvSpPr>
          <p:cNvPr id="3" name="Subtitle 2"/>
          <p:cNvSpPr>
            <a:spLocks noGrp="1"/>
          </p:cNvSpPr>
          <p:nvPr>
            <p:ph type="subTitle" idx="1"/>
          </p:nvPr>
        </p:nvSpPr>
        <p:spPr/>
        <p:txBody>
          <a:bodyPr/>
          <a:lstStyle/>
          <a:p>
            <a:r>
              <a:t>Adopting RAG to ground AI in company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Plan: From Risk to Reliable AI</a:t>
            </a:r>
          </a:p>
        </p:txBody>
      </p:sp>
      <p:sp>
        <p:nvSpPr>
          <p:cNvPr id="3" name="Content Placeholder 2"/>
          <p:cNvSpPr>
            <a:spLocks noGrp="1"/>
          </p:cNvSpPr>
          <p:nvPr>
            <p:ph idx="1"/>
          </p:nvPr>
        </p:nvSpPr>
        <p:spPr/>
        <p:txBody>
          <a:bodyPr/>
          <a:lstStyle/>
          <a:p>
            <a:pPr>
              <a:defRPr sz="2400"/>
            </a:pPr>
            <a:r>
              <a:t>Understanding current AI limitations</a:t>
            </a:r>
          </a:p>
          <a:p>
            <a:pPr>
              <a:defRPr sz="2400"/>
            </a:pPr>
            <a:r>
              <a:t>Defining RAG and its core value</a:t>
            </a:r>
          </a:p>
          <a:p>
            <a:pPr>
              <a:defRPr sz="2400"/>
            </a:pPr>
            <a:r>
              <a:t>Connecting AI to our internal data</a:t>
            </a:r>
          </a:p>
          <a:p>
            <a:pPr>
              <a:defRPr sz="2400"/>
            </a:pPr>
            <a:r>
              <a:t>Quantifying the business impact</a:t>
            </a:r>
          </a:p>
          <a:p>
            <a:pPr>
              <a:defRPr sz="2400"/>
            </a:pPr>
            <a:r>
              <a:t>Our phased implementation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Generic AI Models Cannot Trust Our Proprietary Data</a:t>
            </a:r>
          </a:p>
        </p:txBody>
      </p:sp>
      <p:sp>
        <p:nvSpPr>
          <p:cNvPr id="3" name="Content Placeholder 2"/>
          <p:cNvSpPr>
            <a:spLocks noGrp="1"/>
          </p:cNvSpPr>
          <p:nvPr>
            <p:ph idx="1"/>
          </p:nvPr>
        </p:nvSpPr>
        <p:spPr/>
        <p:txBody>
          <a:bodyPr/>
          <a:lstStyle/>
          <a:p>
            <a:pPr>
              <a:defRPr sz="2400"/>
            </a:pPr>
            <a:r>
              <a:t>Hallucinations: Generating false but confident information</a:t>
            </a:r>
          </a:p>
          <a:p>
            <a:pPr>
              <a:defRPr sz="2400"/>
            </a:pPr>
            <a:r>
              <a:t>Knowledge Cutoffs: Using outdated or incomplete data</a:t>
            </a:r>
          </a:p>
          <a:p>
            <a:pPr>
              <a:defRPr sz="2400"/>
            </a:pPr>
            <a:r>
              <a:t>Lack of Source Citation: Inability to prove where answers came from</a:t>
            </a:r>
          </a:p>
          <a:p>
            <a:pPr>
              <a:defRPr sz="2400"/>
            </a:pPr>
            <a:r>
              <a:t>Security Risk: Exposure of sensitive internal information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Gives AI the Ability to Cite Its Sources</a:t>
            </a:r>
          </a:p>
        </p:txBody>
      </p:sp>
      <p:sp>
        <p:nvSpPr>
          <p:cNvPr id="3" name="Content Placeholder 2"/>
          <p:cNvSpPr>
            <a:spLocks noGrp="1"/>
          </p:cNvSpPr>
          <p:nvPr>
            <p:ph idx="1"/>
          </p:nvPr>
        </p:nvSpPr>
        <p:spPr/>
        <p:txBody>
          <a:bodyPr/>
          <a:lstStyle/>
          <a:p>
            <a:pPr>
              <a:defRPr sz="2400"/>
            </a:pPr>
            <a:r>
              <a:t>Retrieval: Finding relevant internal documents first</a:t>
            </a:r>
          </a:p>
          <a:p>
            <a:pPr>
              <a:defRPr sz="2400"/>
            </a:pPr>
            <a:r>
              <a:t>Augmentation: Using those documents to guide the answer</a:t>
            </a:r>
          </a:p>
          <a:p>
            <a:pPr>
              <a:defRPr sz="2400"/>
            </a:pPr>
            <a:r>
              <a:t>Generation: Creating a factual, grounded response</a:t>
            </a:r>
          </a:p>
          <a:p>
            <a:pPr>
              <a:defRPr sz="2400"/>
            </a:pPr>
            <a:r>
              <a:t>The result: Trustworthy, verifiable insights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Making Our Proprietary Knowledge the AI's Core Asset</a:t>
            </a:r>
          </a:p>
        </p:txBody>
      </p:sp>
      <p:sp>
        <p:nvSpPr>
          <p:cNvPr id="3" name="Content Placeholder 2"/>
          <p:cNvSpPr>
            <a:spLocks noGrp="1"/>
          </p:cNvSpPr>
          <p:nvPr>
            <p:ph idx="1"/>
          </p:nvPr>
        </p:nvSpPr>
        <p:spPr/>
        <p:txBody>
          <a:bodyPr/>
          <a:lstStyle/>
          <a:p>
            <a:pPr>
              <a:defRPr sz="2400"/>
            </a:pPr>
            <a:r>
              <a:t>Indexing: Structuring all internal documents (policies, reports)</a:t>
            </a:r>
          </a:p>
          <a:p>
            <a:pPr>
              <a:defRPr sz="2400"/>
            </a:pPr>
            <a:r>
              <a:t>Connecting Data: Linking AI queries to specific data sources</a:t>
            </a:r>
          </a:p>
          <a:p>
            <a:pPr>
              <a:defRPr sz="2400"/>
            </a:pPr>
            <a:r>
              <a:t>Contextual Answers: Providing answers specific to our operations</a:t>
            </a:r>
          </a:p>
          <a:p>
            <a:pPr>
              <a:defRPr sz="2400"/>
            </a:pPr>
            <a:r>
              <a:t>Unlocking Value: Turning siloed data into actionable intelligence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Delivers Measurable ROI Across Key Departments</a:t>
            </a:r>
          </a:p>
        </p:txBody>
      </p:sp>
      <p:sp>
        <p:nvSpPr>
          <p:cNvPr id="3" name="Content Placeholder 2"/>
          <p:cNvSpPr>
            <a:spLocks noGrp="1"/>
          </p:cNvSpPr>
          <p:nvPr>
            <p:ph idx="1"/>
          </p:nvPr>
        </p:nvSpPr>
        <p:spPr/>
        <p:txBody>
          <a:bodyPr/>
          <a:lstStyle/>
          <a:p>
            <a:pPr>
              <a:defRPr sz="2400"/>
            </a:pPr>
            <a:r>
              <a:t>Reducing operational risk from inaccurate AI output</a:t>
            </a:r>
          </a:p>
          <a:p>
            <a:pPr>
              <a:defRPr sz="2400"/>
            </a:pPr>
            <a:r>
              <a:t>Accelerating employee time-to-answer and onboarding</a:t>
            </a:r>
          </a:p>
          <a:p>
            <a:pPr>
              <a:defRPr sz="2400"/>
            </a:pPr>
            <a:r>
              <a:t>Improving decision quality with cited facts</a:t>
            </a:r>
          </a:p>
          <a:p>
            <a:pPr>
              <a:defRPr sz="2400"/>
            </a:pPr>
            <a:r>
              <a:t>Freeing up expert time for high-value strategy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Building Our Trustworthy AI Infrastructure</a:t>
            </a:r>
          </a:p>
        </p:txBody>
      </p:sp>
      <p:sp>
        <p:nvSpPr>
          <p:cNvPr id="3" name="Content Placeholder 2"/>
          <p:cNvSpPr>
            <a:spLocks noGrp="1"/>
          </p:cNvSpPr>
          <p:nvPr>
            <p:ph idx="1"/>
          </p:nvPr>
        </p:nvSpPr>
        <p:spPr/>
        <p:txBody>
          <a:bodyPr/>
          <a:lstStyle/>
          <a:p>
            <a:pPr>
              <a:defRPr sz="2400"/>
            </a:pPr>
            <a:r>
              <a:t>Phase 1: Pilot Program (Select department &amp; data set)</a:t>
            </a:r>
          </a:p>
          <a:p>
            <a:pPr>
              <a:defRPr sz="2400"/>
            </a:pPr>
            <a:r>
              <a:t>Phase 2: Integration &amp; Scaling (Expand to core business units)</a:t>
            </a:r>
          </a:p>
          <a:p>
            <a:pPr>
              <a:defRPr sz="2400"/>
            </a:pPr>
            <a:r>
              <a:t>Phase 3: Governance &amp; Optimization (Establish policies and monitoring)</a:t>
            </a:r>
          </a:p>
          <a:p>
            <a:pPr>
              <a:defRPr sz="2400"/>
            </a:pPr>
            <a:r>
              <a:t>Commitment: Start building our reliable AI infrastructure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