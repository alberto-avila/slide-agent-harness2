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discussing a critical evolution in how we use AI. We need to move beyond general-purpose AI and build systems that are grounded in our specific, proprietary knowledge base. This is about making AI reliable, trustworthy, and actionable.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use off-the-shelf AI, we are accepting a significant risk. These models are trained on the general internet, which is vast but unverified and irrelevant to our business. This leads to 'hallucinations'—making up facts—which is unacceptable when making decisions about product development, legal compliance, or customer service. We need AI that speaks only with our internal 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Retrieval-Augmented Generation, or RAG. Think of it as giving the AI a highly specialized research assistant. Instead of letting the AI guess, RAG first searches our entire internal knowledge base—our manuals, reports, and databases—to find the most relevant documents. It then feeds those documents to the AI, forcing it to generate an answer *based only* on those facts. This makes the output accurate and auditable.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isn't just 'better AI'; it's about operationalizing intelligence. By grounding the AI, we drastically reduce the time our employees spend searching for answers and the risk associated with bad data. This translates directly into faster project cycles, fewer compliance fines, and a massive boost in employee productivity. This is a revenue enabler, not just an IT project.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do this all at once. We propose a phased approach. We start small—a pilot program in one high-value area, like legal or HR—to prove the value quickly. Then, we expand systematically. Crucially, we build governance from day one, ensuring security and compliance are baked into the architecture, not added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AI is inevitable, but *reliable* AI is a competitive advantage. RAG gives us that reliability. We have a clear plan, and we have identified the immediate ROI. My ask today is for approval and resources to kick off the pilot program. This is not an expense; it is an investment in our future operational resilience and growth.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Enhancing AI Accuracy with Retrieval-Augmented Generation</a:t>
            </a:r>
          </a:p>
        </p:txBody>
      </p:sp>
      <p:sp>
        <p:nvSpPr>
          <p:cNvPr id="3" name="Subtitle 2"/>
          <p:cNvSpPr>
            <a:spLocks noGrp="1"/>
          </p:cNvSpPr>
          <p:nvPr>
            <p:ph type="subTitle" idx="1"/>
          </p:nvPr>
        </p:nvSpPr>
        <p:spPr/>
        <p:txBody>
          <a:bodyPr/>
          <a:lstStyle/>
          <a:p>
            <a:r>
              <a:t>A Strategy for Reliable, Enterprise-Grade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AI Models Cannot Rely on General Knowledge Alone</a:t>
            </a:r>
          </a:p>
        </p:txBody>
      </p:sp>
      <p:sp>
        <p:nvSpPr>
          <p:cNvPr id="3" name="Content Placeholder 2"/>
          <p:cNvSpPr>
            <a:spLocks noGrp="1"/>
          </p:cNvSpPr>
          <p:nvPr>
            <p:ph idx="1"/>
          </p:nvPr>
        </p:nvSpPr>
        <p:spPr/>
        <p:txBody>
          <a:bodyPr/>
          <a:lstStyle/>
          <a:p>
            <a:pPr>
              <a:defRPr sz="2400"/>
            </a:pPr>
            <a:r>
              <a:t>Generating inaccurate or fabricated information (hallucination)</a:t>
            </a:r>
          </a:p>
          <a:p>
            <a:pPr>
              <a:defRPr sz="2400"/>
            </a:pPr>
            <a:r>
              <a:t>Ignoring proprietary company data and context</a:t>
            </a:r>
          </a:p>
          <a:p>
            <a:pPr>
              <a:defRPr sz="2400"/>
            </a:pPr>
            <a:r>
              <a:t>Lack of verifiable sources for critical decisions</a:t>
            </a:r>
          </a:p>
          <a:p>
            <a:pPr>
              <a:defRPr sz="2400"/>
            </a:pPr>
            <a:r>
              <a:t>Increasing legal and operational risk exposure</a:t>
            </a:r>
          </a:p>
          <a:p>
            <a:pPr>
              <a:defRPr sz="2400"/>
            </a:pPr>
            <a:r>
              <a:t>Failing to meet enterprise-grade accuracy standards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Answers in Our Verified Corporate Data</a:t>
            </a:r>
          </a:p>
        </p:txBody>
      </p:sp>
      <p:sp>
        <p:nvSpPr>
          <p:cNvPr id="3" name="Content Placeholder 2"/>
          <p:cNvSpPr>
            <a:spLocks noGrp="1"/>
          </p:cNvSpPr>
          <p:nvPr>
            <p:ph idx="1"/>
          </p:nvPr>
        </p:nvSpPr>
        <p:spPr/>
        <p:txBody>
          <a:bodyPr/>
          <a:lstStyle/>
          <a:p>
            <a:pPr>
              <a:defRPr sz="2400"/>
            </a:pPr>
            <a:r>
              <a:t>Retrieving relevant internal documents first</a:t>
            </a:r>
          </a:p>
          <a:p>
            <a:pPr>
              <a:defRPr sz="2400"/>
            </a:pPr>
            <a:r>
              <a:t>Using context to guide the AI's response</a:t>
            </a:r>
          </a:p>
          <a:p>
            <a:pPr>
              <a:defRPr sz="2400"/>
            </a:pPr>
            <a:r>
              <a:t>Eliminating reliance on general web knowledge</a:t>
            </a:r>
          </a:p>
          <a:p>
            <a:pPr>
              <a:defRPr sz="2400"/>
            </a:pPr>
            <a:r>
              <a:t>Ensuring every answer is traceable and verifiable</a:t>
            </a:r>
          </a:p>
          <a:p>
            <a:pPr>
              <a:defRPr sz="2400"/>
            </a:pPr>
            <a:r>
              <a:t>Creating a closed-loop, secure knowledge system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Delivers Measurable ROI Through Operational Excellence</a:t>
            </a:r>
          </a:p>
        </p:txBody>
      </p:sp>
      <p:sp>
        <p:nvSpPr>
          <p:cNvPr id="3" name="Content Placeholder 2"/>
          <p:cNvSpPr>
            <a:spLocks noGrp="1"/>
          </p:cNvSpPr>
          <p:nvPr>
            <p:ph idx="1"/>
          </p:nvPr>
        </p:nvSpPr>
        <p:spPr/>
        <p:txBody>
          <a:bodyPr/>
          <a:lstStyle/>
          <a:p>
            <a:pPr>
              <a:defRPr sz="2400"/>
            </a:pPr>
            <a:r>
              <a:t>Accelerating time-to-insight for employees</a:t>
            </a:r>
          </a:p>
          <a:p>
            <a:pPr>
              <a:defRPr sz="2400"/>
            </a:pPr>
            <a:r>
              <a:t>Reducing risk exposure and compliance failures</a:t>
            </a:r>
          </a:p>
          <a:p>
            <a:pPr>
              <a:defRPr sz="2400"/>
            </a:pPr>
            <a:r>
              <a:t>Improving customer service accuracy and speed</a:t>
            </a:r>
          </a:p>
          <a:p>
            <a:pPr>
              <a:defRPr sz="2400"/>
            </a:pPr>
            <a:r>
              <a:t>Freeing up expert time from repetitive queries</a:t>
            </a:r>
          </a:p>
          <a:p>
            <a:pPr>
              <a:defRPr sz="2400"/>
            </a:pPr>
            <a:r>
              <a:t>Enabling faster, data-backed decision-making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Implementation: A Clear Path to AI Adoption</a:t>
            </a:r>
          </a:p>
        </p:txBody>
      </p:sp>
      <p:sp>
        <p:nvSpPr>
          <p:cNvPr id="3" name="Content Placeholder 2"/>
          <p:cNvSpPr>
            <a:spLocks noGrp="1"/>
          </p:cNvSpPr>
          <p:nvPr>
            <p:ph idx="1"/>
          </p:nvPr>
        </p:nvSpPr>
        <p:spPr/>
        <p:txBody>
          <a:bodyPr/>
          <a:lstStyle/>
          <a:p>
            <a:pPr>
              <a:defRPr sz="2400"/>
            </a:pPr>
            <a:r>
              <a:t>Phase 1: Pilot Program (High-value department focus)</a:t>
            </a:r>
          </a:p>
          <a:p>
            <a:pPr>
              <a:defRPr sz="2400"/>
            </a:pPr>
            <a:r>
              <a:t>Phase 2: Integration (Expanding across core business units)</a:t>
            </a:r>
          </a:p>
          <a:p>
            <a:pPr>
              <a:defRPr sz="2400"/>
            </a:pPr>
            <a:r>
              <a:t>Phase 3: Optimization (Scaling and advanced use cases)</a:t>
            </a:r>
          </a:p>
          <a:p>
            <a:pPr>
              <a:defRPr sz="2400"/>
            </a:pPr>
            <a:r>
              <a:t>Establishing governance and security protocols</a:t>
            </a:r>
          </a:p>
          <a:p>
            <a:pPr>
              <a:defRPr sz="2400"/>
            </a:pPr>
            <a:r>
              <a:t>Measuring impact and refining the knowledge 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 Approve Pilot Funding to Secure AI Advantage</a:t>
            </a:r>
          </a:p>
        </p:txBody>
      </p:sp>
      <p:sp>
        <p:nvSpPr>
          <p:cNvPr id="3" name="Content Placeholder 2"/>
          <p:cNvSpPr>
            <a:spLocks noGrp="1"/>
          </p:cNvSpPr>
          <p:nvPr>
            <p:ph idx="1"/>
          </p:nvPr>
        </p:nvSpPr>
        <p:spPr/>
        <p:txBody>
          <a:bodyPr/>
          <a:lstStyle/>
          <a:p>
            <a:pPr>
              <a:defRPr sz="2400"/>
            </a:pPr>
            <a:r>
              <a:t>Authorize funding for the initial pilot project</a:t>
            </a:r>
          </a:p>
          <a:p>
            <a:pPr>
              <a:defRPr sz="2400"/>
            </a:pPr>
            <a:r>
              <a:t>Form a cross-functional steering committee</a:t>
            </a:r>
          </a:p>
          <a:p>
            <a:pPr>
              <a:defRPr sz="2400"/>
            </a:pPr>
            <a:r>
              <a:t>Define key success metrics (KPIs) for the pilot</a:t>
            </a:r>
          </a:p>
          <a:p>
            <a:pPr>
              <a:defRPr sz="2400"/>
            </a:pPr>
            <a:r>
              <a:t>Commit to a strategic, phased AI adoption roadmap</a:t>
            </a:r>
          </a:p>
          <a:p>
            <a:pPr>
              <a:defRPr sz="2400"/>
            </a:pPr>
            <a:r>
              <a:t>Start building a reliable, proprietary AI asset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