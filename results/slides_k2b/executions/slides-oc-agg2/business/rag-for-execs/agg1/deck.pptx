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not talking about a technical upgrade; we are talking about a strategic necessity. As AI becomes central to our operations, we must ensure that the intelligence we build is reliable, accurate, and grounded in our company's unique knowledge. This presentation outlines how we can do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next few minutes, we will walk through a clear path. We will first define the risks we face today, then introduce RAG as the necessary solution, quantify the business value, and finally, present a manageable roadmap to adoption. The goal is to move from concept to concrete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risk with off-the-shelf AI is that it is trained on the public internet. It does not know our specific policies, our client data, or our internal best practices. This leads to 'hallucinations'—making up facts—which is unacceptable in a regulated industry. We are exposing ourselves to significant operational and compliance risk.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RAG, or Retrieval-Augmented Generation, is the fix. Think of it this way: Instead of letting the AI guess, we are giving it a locked-down, secure library of only our company's best manuals, policies, and reports. It first retrieves the correct documents, and *then* it uses those documents to formulate the answer. This makes the output reliable and directly attributable to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investment pays off. By giving our employees instant, accurate access to our collective knowledge, we dramatically reduce the time they spend searching for answers. We improve compliance by ensuring every answer is traceable to an approved document. This translates directly into efficiency gains and a measurable reduction in risk.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asking for a massive, immediate overhaul. We propose a phased approach. We start small—a pilot in a contained, high-value area like Legal or HR. Once we prove the value and refine the process, we scale, and finally, we establish enterprise-wide governance to ensure long-term success. This minimizes risk and maximizes learning.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general AI is too risky for our core operations. RAG provides the necessary guardrails, transforming our internal data into a strategic asset. Our immediate ask is approval to form a steering committee and dedicate resources to the initial pilot program. This is the critical step to securing our AI future and maintaining our competitive edge.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Securing AI Reliability for Business Growth</a:t>
            </a:r>
          </a:p>
        </p:txBody>
      </p:sp>
      <p:sp>
        <p:nvSpPr>
          <p:cNvPr id="3" name="Subtitle 2"/>
          <p:cNvSpPr>
            <a:spLocks noGrp="1"/>
          </p:cNvSpPr>
          <p:nvPr>
            <p:ph type="subTitle" idx="1"/>
          </p:nvPr>
        </p:nvSpPr>
        <p:spPr/>
        <p:txBody>
          <a:bodyPr/>
          <a:lstStyle/>
          <a:p>
            <a:r>
              <a:t>Harnessing Proprietary Data for Enterprise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Strategic Path to AI Adoption</a:t>
            </a:r>
          </a:p>
        </p:txBody>
      </p:sp>
      <p:sp>
        <p:nvSpPr>
          <p:cNvPr id="3" name="Text Placeholder 2"/>
          <p:cNvSpPr>
            <a:spLocks noGrp="1"/>
          </p:cNvSpPr>
          <p:nvPr>
            <p:ph type="body"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General AI Risks Threaten Accuracy and Compliance</a:t>
            </a:r>
          </a:p>
        </p:txBody>
      </p:sp>
      <p:sp>
        <p:nvSpPr>
          <p:cNvPr id="3" name="Content Placeholder 2"/>
          <p:cNvSpPr>
            <a:spLocks noGrp="1"/>
          </p:cNvSpPr>
          <p:nvPr>
            <p:ph idx="1"/>
          </p:nvPr>
        </p:nvSpPr>
        <p:spPr/>
        <p:txBody>
          <a:bodyPr/>
          <a:lstStyle/>
          <a:p>
            <a:pPr>
              <a:defRPr sz="2400"/>
            </a:pPr>
            <a:r>
              <a:t>Inaccurate answers (Hallucinations)</a:t>
            </a:r>
          </a:p>
          <a:p>
            <a:pPr>
              <a:defRPr sz="2400"/>
            </a:pPr>
            <a:r>
              <a:t>Ignoring proprietary company data</a:t>
            </a:r>
          </a:p>
          <a:p>
            <a:pPr>
              <a:defRPr sz="2400"/>
            </a:pPr>
            <a:r>
              <a:t>Increased operational and compliance risk</a:t>
            </a:r>
          </a:p>
          <a:p>
            <a:pPr>
              <a:defRPr sz="2400"/>
            </a:pPr>
            <a:r>
              <a:t>Lack of verifiable sources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in Our Proprietary Knowledge Base</a:t>
            </a:r>
          </a:p>
        </p:txBody>
      </p:sp>
      <p:sp>
        <p:nvSpPr>
          <p:cNvPr id="3" name="Content Placeholder 2"/>
          <p:cNvSpPr>
            <a:spLocks noGrp="1"/>
          </p:cNvSpPr>
          <p:nvPr>
            <p:ph idx="1"/>
          </p:nvPr>
        </p:nvSpPr>
        <p:spPr/>
        <p:txBody>
          <a:bodyPr/>
          <a:lstStyle/>
          <a:p>
            <a:pPr>
              <a:defRPr sz="2400"/>
            </a:pPr>
            <a:r>
              <a:t>Retrieving relevant internal documents</a:t>
            </a:r>
          </a:p>
          <a:p>
            <a:pPr>
              <a:defRPr sz="2400"/>
            </a:pPr>
            <a:r>
              <a:t>Augmenting AI answers with facts</a:t>
            </a:r>
          </a:p>
          <a:p>
            <a:pPr>
              <a:defRPr sz="2400"/>
            </a:pPr>
            <a:r>
              <a:t>Ensuring answers are verifiable and accurate</a:t>
            </a:r>
          </a:p>
          <a:p>
            <a:pPr>
              <a:defRPr sz="2400"/>
            </a:pPr>
            <a:r>
              <a:t>Minimizing reliance on general knowledge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Driving Measurable ROI Through Internal Intelligence</a:t>
            </a:r>
          </a:p>
        </p:txBody>
      </p:sp>
      <p:sp>
        <p:nvSpPr>
          <p:cNvPr id="3" name="Content Placeholder 2"/>
          <p:cNvSpPr>
            <a:spLocks noGrp="1"/>
          </p:cNvSpPr>
          <p:nvPr>
            <p:ph idx="1"/>
          </p:nvPr>
        </p:nvSpPr>
        <p:spPr/>
        <p:txBody>
          <a:bodyPr/>
          <a:lstStyle/>
          <a:p>
            <a:pPr>
              <a:defRPr sz="2400"/>
            </a:pPr>
            <a:r>
              <a:t>Reducing time-to-answer for employees</a:t>
            </a:r>
          </a:p>
          <a:p>
            <a:pPr>
              <a:defRPr sz="2400"/>
            </a:pPr>
            <a:r>
              <a:t>Accelerating compliance and audit processes</a:t>
            </a:r>
          </a:p>
          <a:p>
            <a:pPr>
              <a:defRPr sz="2400"/>
            </a:pPr>
            <a:r>
              <a:t>Empowering faster, data-driven decisions</a:t>
            </a:r>
          </a:p>
          <a:p>
            <a:pPr>
              <a:defRPr sz="2400"/>
            </a:pPr>
            <a:r>
              <a:t>Lowering operational risk exposure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Roadmap: A Low-Risk Path to Adoption</a:t>
            </a:r>
          </a:p>
        </p:txBody>
      </p:sp>
      <p:sp>
        <p:nvSpPr>
          <p:cNvPr id="3" name="Content Placeholder 2"/>
          <p:cNvSpPr>
            <a:spLocks noGrp="1"/>
          </p:cNvSpPr>
          <p:nvPr>
            <p:ph idx="1"/>
          </p:nvPr>
        </p:nvSpPr>
        <p:spPr/>
        <p:txBody>
          <a:bodyPr/>
          <a:lstStyle/>
          <a:p>
            <a:pPr>
              <a:defRPr sz="2400"/>
            </a:pPr>
            <a:r>
              <a:t>Phase 1: Pilot (Legal/HR knowledge base)</a:t>
            </a:r>
          </a:p>
          <a:p>
            <a:pPr>
              <a:defRPr sz="2400"/>
            </a:pPr>
            <a:r>
              <a:t>Phase 2: Scale (Cross-departmental deployment)</a:t>
            </a:r>
          </a:p>
          <a:p>
            <a:pPr>
              <a:defRPr sz="2400"/>
            </a:pPr>
            <a:r>
              <a:t>Phase 3: Govern (Enterprise-wide policy and governance)</a:t>
            </a:r>
          </a:p>
          <a:p>
            <a:pPr>
              <a:defRPr sz="2400"/>
            </a:pPr>
            <a:r>
              <a:t>Establish clear success metrics and ownership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 Approve Funding for Pilot Program</a:t>
            </a:r>
          </a:p>
        </p:txBody>
      </p:sp>
      <p:sp>
        <p:nvSpPr>
          <p:cNvPr id="3" name="Text Placeholder 2"/>
          <p:cNvSpPr>
            <a:spLocks noGrp="1"/>
          </p:cNvSpPr>
          <p:nvPr>
            <p:ph type="body"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