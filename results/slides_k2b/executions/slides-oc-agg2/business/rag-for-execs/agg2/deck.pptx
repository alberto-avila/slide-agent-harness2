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not talking about a technical upgrade; we are talking about a strategic necessity. General AI is powerful, but it is unreliable for mission-critical tasks. Our goal today is to show how we can harness AI's power while eliminating its inherent risks, ensuring that every AI interaction is grounded in our proprietary, verified business knowledge.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journey we will take today. We will first establish why the current state of general AI poses a measurable risk. Then, we will introduce RAG as the specialized solution. Crucially, we will focus on the measurable business impact—the ROI—and conclude with a concrete, actionable plan for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risk right now is not the technology itself, but its unreliability when applied to our core business functions. General-purpose models are trained on the public internet, meaning they are prone to 'hallucinations'—making up facts. More critically, they cannot inherently access or prioritize our most valuable asset: our proprietary, internal knowledge base. This creates significant operational risk and potential compliance gaps that we simply cannot afford to ignore.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Retrieval-Augmented Generation, or RAG, comes in. Think of RAG as an intelligent research assistant. Instead of letting the AI guess, RAG first searches our entire internal knowledge base—our manuals, reports, and policies—to retrieve the most relevant documents. It then gives those documents to the AI, telling it: 'Only use this information.' Finally, it generates an answer that is not only accurate but is directly traceable back to our verified sources. This eliminates the guesswork.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proposition is not just 'better AI'; it's measurable operational improvement. By grounding AI in our data, we drastically reduce compliance risk because every answer is traceable. We accelerate decision-making by giving employees instant, accurate answers, rather than hours of searching. This translates directly into employee productivity—we are giving our people their time back. Ultimately, RAG allows us to scale AI safely across the entire enterprise.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propose a three-phase, low-risk adoption strategy. We start small, with a high-impact, contained pilot—perhaps in our Legal or HR department—to prove the concept and measure the ROI. Once successful, we scale it systematically. Crucially, we build governance into Phase 3, ensuring that as we grow, we maintain compliance and control. This structured approach minimizes risk and maximizes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General AI is powerful, but risky. RAG provides the necessary reliability and proprietary context. The business case is clear: this is a strategic investment that reduces risk and drives measurable ROI. Our ask today is concrete: We need approval to fund a cross-functional steering committee. This committee will govern the process, select the initial pilot scope, and ensure we move methodically toward becoming an AI-mature organization. Let's start building reliability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discuss next steps, let's recap the core message. The key takeaway is that AI cannot be treated as a black box. To realize true value, it must be grounded in our company's specific, proprietary data. RAG is the mechanism that makes this possible, transforming risk into reliable, measurable business value.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Securing AI Reliability for Business Growth</a:t>
            </a:r>
          </a:p>
        </p:txBody>
      </p:sp>
      <p:sp>
        <p:nvSpPr>
          <p:cNvPr id="3" name="Subtitle 2"/>
          <p:cNvSpPr>
            <a:spLocks noGrp="1"/>
          </p:cNvSpPr>
          <p:nvPr>
            <p:ph type="subTitle" idx="1"/>
          </p:nvPr>
        </p:nvSpPr>
        <p:spPr/>
        <p:txBody>
          <a:bodyPr/>
          <a:lstStyle/>
          <a:p>
            <a:r>
              <a:t>Mitigating Risk and Maximizing Value with Context-Aware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Strategy: From Risk to Reliable AI</a:t>
            </a:r>
          </a:p>
        </p:txBody>
      </p:sp>
      <p:sp>
        <p:nvSpPr>
          <p:cNvPr id="3" name="Content Placeholder 2"/>
          <p:cNvSpPr>
            <a:spLocks noGrp="1"/>
          </p:cNvSpPr>
          <p:nvPr>
            <p:ph idx="1"/>
          </p:nvPr>
        </p:nvSpPr>
        <p:spPr/>
        <p:txBody>
          <a:bodyPr/>
          <a:lstStyle/>
          <a:p>
            <a:pPr>
              <a:defRPr sz="2400"/>
            </a:pPr>
            <a:r>
              <a:t>Understanding the current AI risks and costs</a:t>
            </a:r>
          </a:p>
          <a:p>
            <a:pPr>
              <a:defRPr sz="2400"/>
            </a:pPr>
            <a:r>
              <a:t>Introducing context-aware AI (RAG)</a:t>
            </a:r>
          </a:p>
          <a:p>
            <a:pPr>
              <a:defRPr sz="2400"/>
            </a:pPr>
            <a:r>
              <a:t>Quantifying the operational impact and ROI</a:t>
            </a:r>
          </a:p>
          <a:p>
            <a:pPr>
              <a:defRPr sz="2400"/>
            </a:pPr>
            <a:r>
              <a:t>A phased plan for governance and adoption</a:t>
            </a:r>
          </a:p>
          <a:p>
            <a:pPr>
              <a:defRPr sz="2400"/>
            </a:pPr>
            <a:r>
              <a:t>Clear next steps and investment request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Relying on General AI Creates Unacceptable Operational Risk</a:t>
            </a:r>
          </a:p>
        </p:txBody>
      </p:sp>
      <p:sp>
        <p:nvSpPr>
          <p:cNvPr id="3" name="Content Placeholder 2"/>
          <p:cNvSpPr>
            <a:spLocks noGrp="1"/>
          </p:cNvSpPr>
          <p:nvPr>
            <p:ph idx="1"/>
          </p:nvPr>
        </p:nvSpPr>
        <p:spPr/>
        <p:txBody>
          <a:bodyPr/>
          <a:lstStyle/>
          <a:p>
            <a:pPr>
              <a:defRPr sz="2400"/>
            </a:pPr>
            <a:r>
              <a:t>Hallucinations: Generating false, misleading information</a:t>
            </a:r>
          </a:p>
          <a:p>
            <a:pPr>
              <a:defRPr sz="2400"/>
            </a:pPr>
            <a:r>
              <a:t>Lack of Context: Ignoring proprietary company data</a:t>
            </a:r>
          </a:p>
          <a:p>
            <a:pPr>
              <a:defRPr sz="2400"/>
            </a:pPr>
            <a:r>
              <a:t>Compliance Risk: Violating regulatory mandates</a:t>
            </a:r>
          </a:p>
          <a:p>
            <a:pPr>
              <a:defRPr sz="2400"/>
            </a:pPr>
            <a:r>
              <a:t>Unverifiable Sources: Difficulty in auditing AI outputs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Context-Aware AI: Grounding Answers in Our Data</a:t>
            </a:r>
          </a:p>
        </p:txBody>
      </p:sp>
      <p:sp>
        <p:nvSpPr>
          <p:cNvPr id="3" name="Content Placeholder 2"/>
          <p:cNvSpPr>
            <a:spLocks noGrp="1"/>
          </p:cNvSpPr>
          <p:nvPr>
            <p:ph idx="1"/>
          </p:nvPr>
        </p:nvSpPr>
        <p:spPr/>
        <p:txBody>
          <a:bodyPr/>
          <a:lstStyle/>
          <a:p>
            <a:pPr>
              <a:defRPr sz="2400"/>
            </a:pPr>
            <a:r>
              <a:t>Retrieval: Finding the right internal documents first</a:t>
            </a:r>
          </a:p>
          <a:p>
            <a:pPr>
              <a:defRPr sz="2400"/>
            </a:pPr>
            <a:r>
              <a:t>Augmentation: Feeding context to the AI model</a:t>
            </a:r>
          </a:p>
          <a:p>
            <a:pPr>
              <a:defRPr sz="2400"/>
            </a:pPr>
            <a:r>
              <a:t>Generation: Creating accurate, source-backed answers</a:t>
            </a:r>
          </a:p>
          <a:p>
            <a:pPr>
              <a:defRPr sz="2400"/>
            </a:pPr>
            <a:r>
              <a:t>The result: Trustworthy, verifiable insights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Transforming Operations: Measurable Business Impact</a:t>
            </a:r>
          </a:p>
        </p:txBody>
      </p:sp>
      <p:sp>
        <p:nvSpPr>
          <p:cNvPr id="3" name="Content Placeholder 2"/>
          <p:cNvSpPr>
            <a:spLocks noGrp="1"/>
          </p:cNvSpPr>
          <p:nvPr>
            <p:ph idx="1"/>
          </p:nvPr>
        </p:nvSpPr>
        <p:spPr/>
        <p:txBody>
          <a:bodyPr/>
          <a:lstStyle/>
          <a:p>
            <a:pPr>
              <a:defRPr sz="2400"/>
            </a:pPr>
            <a:r>
              <a:t>Reducing compliance risk and audit failures</a:t>
            </a:r>
          </a:p>
          <a:p>
            <a:pPr>
              <a:defRPr sz="2400"/>
            </a:pPr>
            <a:r>
              <a:t>Accelerating decision-making and time-to-answer</a:t>
            </a:r>
          </a:p>
          <a:p>
            <a:pPr>
              <a:defRPr sz="2400"/>
            </a:pPr>
            <a:r>
              <a:t>Freeing employee time from routine knowledge searches</a:t>
            </a:r>
          </a:p>
          <a:p>
            <a:pPr>
              <a:defRPr sz="2400"/>
            </a:pPr>
            <a:r>
              <a:t>Enabling scalable adoption of AI across departments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Roadmap: De-risking AI Adoption</a:t>
            </a:r>
          </a:p>
        </p:txBody>
      </p:sp>
      <p:sp>
        <p:nvSpPr>
          <p:cNvPr id="3" name="Content Placeholder 2"/>
          <p:cNvSpPr>
            <a:spLocks noGrp="1"/>
          </p:cNvSpPr>
          <p:nvPr>
            <p:ph idx="1"/>
          </p:nvPr>
        </p:nvSpPr>
        <p:spPr/>
        <p:txBody>
          <a:bodyPr/>
          <a:lstStyle/>
          <a:p>
            <a:pPr>
              <a:defRPr sz="2400"/>
            </a:pPr>
            <a:r>
              <a:t>Phase 1 (Pilot): Legal/HR knowledge base integration</a:t>
            </a:r>
          </a:p>
          <a:p>
            <a:pPr>
              <a:defRPr sz="2400"/>
            </a:pPr>
            <a:r>
              <a:t>Phase 2 (Scale): Expanding to operational and sales data</a:t>
            </a:r>
          </a:p>
          <a:p>
            <a:pPr>
              <a:defRPr sz="2400"/>
            </a:pPr>
            <a:r>
              <a:t>Phase 3 (Govern): Establishing enterprise-wide AI governance</a:t>
            </a:r>
          </a:p>
          <a:p>
            <a:pPr>
              <a:defRPr sz="2400"/>
            </a:pPr>
            <a:r>
              <a:t>Metrics: Tracking ROI, time saved, and risk reduction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Invest in AI Maturity Today</a:t>
            </a:r>
          </a:p>
        </p:txBody>
      </p:sp>
      <p:sp>
        <p:nvSpPr>
          <p:cNvPr id="3" name="Content Placeholder 2"/>
          <p:cNvSpPr>
            <a:spLocks noGrp="1"/>
          </p:cNvSpPr>
          <p:nvPr>
            <p:ph idx="1"/>
          </p:nvPr>
        </p:nvSpPr>
        <p:spPr/>
        <p:txBody>
          <a:bodyPr/>
          <a:lstStyle/>
          <a:p>
            <a:pPr>
              <a:defRPr sz="2400"/>
            </a:pPr>
            <a:r>
              <a:t>Approve funding for a cross-functional steering committee</a:t>
            </a:r>
          </a:p>
          <a:p>
            <a:pPr>
              <a:defRPr sz="2400"/>
            </a:pPr>
            <a:r>
              <a:t>Target the initial pilot in the Legal department</a:t>
            </a:r>
          </a:p>
          <a:p>
            <a:pPr>
              <a:defRPr sz="2400"/>
            </a:pPr>
            <a:r>
              <a:t>Define clear success metrics (e.g., 20% time savings)</a:t>
            </a:r>
          </a:p>
          <a:p>
            <a:pPr>
              <a:defRPr sz="2400"/>
            </a:pPr>
            <a:r>
              <a:t>Establish AI governance guidelines immediately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AI Must Be Grounded in Our Data</a:t>
            </a:r>
          </a:p>
        </p:txBody>
      </p:sp>
      <p:sp>
        <p:nvSpPr>
          <p:cNvPr id="3" name="Content Placeholder 2"/>
          <p:cNvSpPr>
            <a:spLocks noGrp="1"/>
          </p:cNvSpPr>
          <p:nvPr>
            <p:ph idx="1"/>
          </p:nvPr>
        </p:nvSpPr>
        <p:spPr/>
        <p:txBody>
          <a:bodyPr/>
          <a:lstStyle/>
          <a:p>
            <a:pPr>
              <a:defRPr sz="2400"/>
            </a:pPr>
            <a:r>
              <a:t>RAG mitigates operational risk from general AI</a:t>
            </a:r>
          </a:p>
          <a:p>
            <a:pPr>
              <a:defRPr sz="2400"/>
            </a:pPr>
            <a:r>
              <a:t>Answers must be proprietary and verifiable</a:t>
            </a:r>
          </a:p>
          <a:p>
            <a:pPr>
              <a:defRPr sz="2400"/>
            </a:pPr>
            <a:r>
              <a:t>Adoption drives measurable ROI and efficiency</a:t>
            </a:r>
          </a:p>
          <a:p>
            <a:pPr>
              <a:defRPr sz="2400"/>
            </a:pPr>
            <a:r>
              <a:t>A phased, governed approach minimizes business disruption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