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Start by acknowledging the immense potential of AI, but immediately pivot to the risk. The core message is that potential is useless without reliability. This presentation shows how we can unlock that potential safely.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the pain point. We are not criticizing AI; we are criticizing *uncontrolled* AI. The key risks are that AI models 'make things up' (hallucinate) and they don't know our specific policies, which creates massive compliance and operational risk. This is costing us time and money.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RAG is the solution mechanism. I must avoid technical terms like 'vector database' or 'chunking.' Instead, I explain it as a process: first, it finds the right internal document, and *then* it answers based only on that document. This makes the AI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the money slide. We need to talk about metrics. Instead of saying 'it's better,' we say 'it saves us X hours' or 'it reduces our risk profile by Y.' This directly addresses the executive's primary concern: the bottom 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Executives hate big, undefined investments. We must show a phased approach. Start small, prove value, then scale. This minimizes initial capital outlay and allows for continuous course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the ask. It must be precise. Don't just say 'let's adopt AI.' Say, 'Let's fund a 90-day pilot in HR to prove we can reduce onboarding time by 20%.' This makes the investment tangible and manageable.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Grounding AI for Enterprise Reliability</a:t>
            </a:r>
          </a:p>
        </p:txBody>
      </p:sp>
      <p:sp>
        <p:nvSpPr>
          <p:cNvPr id="3" name="Subtitle 2"/>
          <p:cNvSpPr>
            <a:spLocks noGrp="1"/>
          </p:cNvSpPr>
          <p:nvPr>
            <p:ph type="subTitle" idx="1"/>
          </p:nvPr>
        </p:nvSpPr>
        <p:spPr/>
        <p:txBody>
          <a:bodyPr/>
          <a:lstStyle/>
          <a:p>
            <a:r>
              <a:t>A Strategic Path to Safe and Accurate AI Adoption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 AI Models Create Unacceptable Business Risk</a:t>
            </a:r>
          </a:p>
        </p:txBody>
      </p:sp>
      <p:sp>
        <p:nvSpPr>
          <p:cNvPr id="3" name="Content Placeholder 2"/>
          <p:cNvSpPr>
            <a:spLocks noGrp="1"/>
          </p:cNvSpPr>
          <p:nvPr>
            <p:ph idx="1"/>
          </p:nvPr>
        </p:nvSpPr>
        <p:spPr/>
        <p:txBody>
          <a:bodyPr/>
          <a:lstStyle/>
          <a:p>
            <a:pPr>
              <a:defRPr sz="2400"/>
            </a:pPr>
            <a:r>
              <a:t>Hallucinations leading to incorrect decisions</a:t>
            </a:r>
          </a:p>
          <a:p>
            <a:pPr>
              <a:defRPr sz="2400"/>
            </a:pPr>
            <a:r>
              <a:t>Inability to reference proprietary company data</a:t>
            </a:r>
          </a:p>
          <a:p>
            <a:pPr>
              <a:defRPr sz="2400"/>
            </a:pPr>
            <a:r>
              <a:t>Increased compliance and legal exposure</a:t>
            </a:r>
          </a:p>
          <a:p>
            <a:pPr>
              <a:defRPr sz="2400"/>
            </a:pPr>
            <a:r>
              <a:t>Operational inefficiency and wasted expert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in Our Proprietary Company Data</a:t>
            </a:r>
          </a:p>
        </p:txBody>
      </p:sp>
      <p:sp>
        <p:nvSpPr>
          <p:cNvPr id="3" name="Content Placeholder 2"/>
          <p:cNvSpPr>
            <a:spLocks noGrp="1"/>
          </p:cNvSpPr>
          <p:nvPr>
            <p:ph idx="1"/>
          </p:nvPr>
        </p:nvSpPr>
        <p:spPr/>
        <p:txBody>
          <a:bodyPr/>
          <a:lstStyle/>
          <a:p>
            <a:pPr>
              <a:defRPr sz="2400"/>
            </a:pPr>
            <a:r>
              <a:t>Retrieving verified internal documents first</a:t>
            </a:r>
          </a:p>
          <a:p>
            <a:pPr>
              <a:defRPr sz="2400"/>
            </a:pPr>
            <a:r>
              <a:t>Providing accurate, source-cited answers</a:t>
            </a:r>
          </a:p>
          <a:p>
            <a:pPr>
              <a:defRPr sz="2400"/>
            </a:pPr>
            <a:r>
              <a:t>Eliminating reliance on general external knowledge</a:t>
            </a:r>
          </a:p>
          <a:p>
            <a:pPr>
              <a:defRPr sz="2400"/>
            </a:pPr>
            <a:r>
              <a:t>Building a reliable, governed AI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Achieve Measurable ROI and Reduce Operational Risk</a:t>
            </a:r>
          </a:p>
        </p:txBody>
      </p:sp>
      <p:sp>
        <p:nvSpPr>
          <p:cNvPr id="3" name="Content Placeholder 2"/>
          <p:cNvSpPr>
            <a:spLocks noGrp="1"/>
          </p:cNvSpPr>
          <p:nvPr>
            <p:ph idx="1"/>
          </p:nvPr>
        </p:nvSpPr>
        <p:spPr/>
        <p:txBody>
          <a:bodyPr/>
          <a:lstStyle/>
          <a:p>
            <a:pPr>
              <a:defRPr sz="2400"/>
            </a:pPr>
            <a:r>
              <a:t>Lowering compliance risk exposure by X%</a:t>
            </a:r>
          </a:p>
          <a:p>
            <a:pPr>
              <a:defRPr sz="2400"/>
            </a:pPr>
            <a:r>
              <a:t>Accelerating time-to-answer for key staff</a:t>
            </a:r>
          </a:p>
          <a:p>
            <a:pPr>
              <a:defRPr sz="2400"/>
            </a:pPr>
            <a:r>
              <a:t>Freeing up expert time for strategic tasks</a:t>
            </a:r>
          </a:p>
          <a:p>
            <a:pPr>
              <a:defRPr sz="2400"/>
            </a:pPr>
            <a:r>
              <a:t>Enabling faster, data-backed decision-making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Adoption: A Low-Risk Implementation Path</a:t>
            </a:r>
          </a:p>
        </p:txBody>
      </p:sp>
      <p:sp>
        <p:nvSpPr>
          <p:cNvPr id="3" name="Content Placeholder 2"/>
          <p:cNvSpPr>
            <a:spLocks noGrp="1"/>
          </p:cNvSpPr>
          <p:nvPr>
            <p:ph idx="1"/>
          </p:nvPr>
        </p:nvSpPr>
        <p:spPr/>
        <p:txBody>
          <a:bodyPr/>
          <a:lstStyle/>
          <a:p>
            <a:pPr>
              <a:defRPr sz="2400"/>
            </a:pPr>
            <a:r>
              <a:t>Phase 1: Pilot in a contained department (e.g., HR)</a:t>
            </a:r>
          </a:p>
          <a:p>
            <a:pPr>
              <a:defRPr sz="2400"/>
            </a:pPr>
            <a:r>
              <a:t>Phase 2: Expand to cross-functional knowledge areas</a:t>
            </a:r>
          </a:p>
          <a:p>
            <a:pPr>
              <a:defRPr sz="2400"/>
            </a:pPr>
            <a:r>
              <a:t>Phase 3: Integrate into core operational workflows</a:t>
            </a:r>
          </a:p>
          <a:p>
            <a:pPr>
              <a:defRPr sz="2400"/>
            </a:pPr>
            <a:r>
              <a:t>Measure and optimize ROI at each stage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 Approve Pilot Funding for Department X</a:t>
            </a:r>
          </a:p>
        </p:txBody>
      </p:sp>
      <p:sp>
        <p:nvSpPr>
          <p:cNvPr id="3" name="Content Placeholder 2"/>
          <p:cNvSpPr>
            <a:spLocks noGrp="1"/>
          </p:cNvSpPr>
          <p:nvPr>
            <p:ph idx="1"/>
          </p:nvPr>
        </p:nvSpPr>
        <p:spPr/>
        <p:txBody>
          <a:bodyPr/>
          <a:lstStyle/>
          <a:p>
            <a:pPr>
              <a:defRPr sz="2400"/>
            </a:pPr>
            <a:r>
              <a:t>Allocate resources for a 90-day pilot program</a:t>
            </a:r>
          </a:p>
          <a:p>
            <a:pPr>
              <a:defRPr sz="2400"/>
            </a:pPr>
            <a:r>
              <a:t>Designate a cross-functional steering committee</a:t>
            </a:r>
          </a:p>
          <a:p>
            <a:pPr>
              <a:defRPr sz="2400"/>
            </a:pPr>
            <a:r>
              <a:t>Define clear success metrics and KPIs</a:t>
            </a:r>
          </a:p>
          <a:p>
            <a:pPr>
              <a:defRPr sz="2400"/>
            </a:pPr>
            <a:r>
              <a:t>Begin implementation in a high-value, low-risk area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