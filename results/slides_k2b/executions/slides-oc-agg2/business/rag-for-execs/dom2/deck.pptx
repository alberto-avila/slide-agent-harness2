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AI is transforming every industry, and our adoption must be strategic. Today, we are not talking about a technical upgrade; we are talking about securing our business growth by controlling the risks and maximizing the value of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use general AI models, they 'hallucinate'—they make up facts. This is unacceptable in a regulated industry. Furthermore, they don't know our specific policies, our client history, or our internal best practices. This lack of proprietary context creates massive operational and compliance risk. We cannot afford to rely on guesswork.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RAG comes in. Think of it like giving the AI a locked-down, highly curated library of only our company's best manuals and policies. Instead of guessing, it retrieves the exact, verified information and then uses that information to build its answer. It's grounded, reliable, and traceable.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value proposition is clear: efficiency and risk mitigation. By giving employees instant access to accurate, proprietary knowledge, we drastically cut down the time they spend searching through documents. This isn't just a 'nice-to-have' feature; it's a direct driver of operational ROI and a reduction in our compliance exposure.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must approach this systematically. We recommend starting with a small, contained pilot—perhaps the Legal department, where the stakes are high and the documentation is centralized. This allows us to prove the value, refine the process, and then scale responsibly, ensuring governance at every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move forward, we need executive buy-in and dedicated resources. I recommend establishing a cross-functional AI Steering Committee. This group will govern the adoption, prioritize use cases, and ensure that RAG is implemented not as a siloed project, but as a strategic, company-wide asset. This is our clear, actionable next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Securing AI Reliability for Business Growth</a:t>
            </a:r>
          </a:p>
        </p:txBody>
      </p:sp>
      <p:sp>
        <p:nvSpPr>
          <p:cNvPr id="3" name="Subtitle 2"/>
          <p:cNvSpPr>
            <a:spLocks noGrp="1"/>
          </p:cNvSpPr>
          <p:nvPr>
            <p:ph type="subTitle" idx="1"/>
          </p:nvPr>
        </p:nvSpPr>
        <p:spPr/>
        <p:txBody>
          <a:bodyPr/>
          <a:lstStyle/>
          <a:p>
            <a:r>
              <a:t>The Strategic Imperative of Controlled AI Adoption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Uncontrolled AI Risks Threaten Our Reputation and Data</a:t>
            </a:r>
          </a:p>
        </p:txBody>
      </p:sp>
      <p:sp>
        <p:nvSpPr>
          <p:cNvPr id="3" name="Content Placeholder 2"/>
          <p:cNvSpPr>
            <a:spLocks noGrp="1"/>
          </p:cNvSpPr>
          <p:nvPr>
            <p:ph idx="1"/>
          </p:nvPr>
        </p:nvSpPr>
        <p:spPr/>
        <p:txBody>
          <a:bodyPr/>
          <a:lstStyle/>
          <a:p>
            <a:pPr>
              <a:defRPr sz="2400"/>
            </a:pPr>
            <a:r>
              <a:t>Hallucinations leading to incorrect decisions</a:t>
            </a:r>
          </a:p>
          <a:p>
            <a:pPr>
              <a:defRPr sz="2400"/>
            </a:pPr>
            <a:r>
              <a:t>Inability to use proprietary company data</a:t>
            </a:r>
          </a:p>
          <a:p>
            <a:pPr>
              <a:defRPr sz="2400"/>
            </a:pPr>
            <a:r>
              <a:t>Increased operational and compliance risk</a:t>
            </a:r>
          </a:p>
          <a:p>
            <a:pPr>
              <a:defRPr sz="2400"/>
            </a:pPr>
            <a:r>
              <a:t>Difficulty proving data lineage and sources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Grounding AI in Our Trusted Company Knowledge</a:t>
            </a:r>
          </a:p>
        </p:txBody>
      </p:sp>
      <p:sp>
        <p:nvSpPr>
          <p:cNvPr id="3" name="Content Placeholder 2"/>
          <p:cNvSpPr>
            <a:spLocks noGrp="1"/>
          </p:cNvSpPr>
          <p:nvPr>
            <p:ph idx="1"/>
          </p:nvPr>
        </p:nvSpPr>
        <p:spPr/>
        <p:txBody>
          <a:bodyPr/>
          <a:lstStyle/>
          <a:p>
            <a:pPr>
              <a:defRPr sz="2400"/>
            </a:pPr>
            <a:r>
              <a:t>Retrieving accurate, proprietary company documents</a:t>
            </a:r>
          </a:p>
          <a:p>
            <a:pPr>
              <a:defRPr sz="2400"/>
            </a:pPr>
            <a:r>
              <a:t>Augmenting AI answers with verified sources</a:t>
            </a:r>
          </a:p>
          <a:p>
            <a:pPr>
              <a:defRPr sz="2400"/>
            </a:pPr>
            <a:r>
              <a:t>Providing clear data lineage and source citations</a:t>
            </a:r>
          </a:p>
          <a:p>
            <a:pPr>
              <a:defRPr sz="2400"/>
            </a:pPr>
            <a:r>
              <a:t>Ensuring answers are always relevant to our business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Boosting ROI Through Efficiency and Risk Reduction</a:t>
            </a:r>
          </a:p>
        </p:txBody>
      </p:sp>
      <p:sp>
        <p:nvSpPr>
          <p:cNvPr id="3" name="Content Placeholder 2"/>
          <p:cNvSpPr>
            <a:spLocks noGrp="1"/>
          </p:cNvSpPr>
          <p:nvPr>
            <p:ph idx="1"/>
          </p:nvPr>
        </p:nvSpPr>
        <p:spPr/>
        <p:txBody>
          <a:bodyPr/>
          <a:lstStyle/>
          <a:p>
            <a:pPr>
              <a:defRPr sz="2400"/>
            </a:pPr>
            <a:r>
              <a:t>Faster time-to-answer for employees</a:t>
            </a:r>
          </a:p>
          <a:p>
            <a:pPr>
              <a:defRPr sz="2400"/>
            </a:pPr>
            <a:r>
              <a:t>Reducing compliance investigation time</a:t>
            </a:r>
          </a:p>
          <a:p>
            <a:pPr>
              <a:defRPr sz="2400"/>
            </a:pPr>
            <a:r>
              <a:t>Empowering staff with instant, accurate insights</a:t>
            </a:r>
          </a:p>
          <a:p>
            <a:pPr>
              <a:defRPr sz="2400"/>
            </a:pPr>
            <a:r>
              <a:t>Freeing up expert time for strategic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Phased Approach Minimizes Risk and Maximizes Adoption</a:t>
            </a:r>
          </a:p>
        </p:txBody>
      </p:sp>
      <p:sp>
        <p:nvSpPr>
          <p:cNvPr id="3" name="Content Placeholder 2"/>
          <p:cNvSpPr>
            <a:spLocks noGrp="1"/>
          </p:cNvSpPr>
          <p:nvPr>
            <p:ph idx="1"/>
          </p:nvPr>
        </p:nvSpPr>
        <p:spPr/>
        <p:txBody>
          <a:bodyPr/>
          <a:lstStyle/>
          <a:p>
            <a:pPr>
              <a:defRPr sz="2400"/>
            </a:pPr>
            <a:r>
              <a:t>Phase 1: Pilot in a high-impact department (e.g., Legal)</a:t>
            </a:r>
          </a:p>
          <a:p>
            <a:pPr>
              <a:defRPr sz="2400"/>
            </a:pPr>
            <a:r>
              <a:t>Phase 2: Scale to adjacent business units (e.g., HR, Operations)</a:t>
            </a:r>
          </a:p>
          <a:p>
            <a:pPr>
              <a:defRPr sz="2400"/>
            </a:pPr>
            <a:r>
              <a:t>Phase 3: Govern and integrate across the enterprise</a:t>
            </a:r>
          </a:p>
          <a:p>
            <a:pPr>
              <a:defRPr sz="2400"/>
            </a:pPr>
            <a:r>
              <a:t>Establish clear metrics for success and ROI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 Fund a Cross-Functional AI Steering Committee</a:t>
            </a:r>
          </a:p>
        </p:txBody>
      </p:sp>
      <p:sp>
        <p:nvSpPr>
          <p:cNvPr id="3" name="Content Placeholder 2"/>
          <p:cNvSpPr>
            <a:spLocks noGrp="1"/>
          </p:cNvSpPr>
          <p:nvPr>
            <p:ph idx="1"/>
          </p:nvPr>
        </p:nvSpPr>
        <p:spPr/>
        <p:txBody>
          <a:bodyPr/>
          <a:lstStyle/>
          <a:p>
            <a:pPr>
              <a:defRPr sz="2400"/>
            </a:pPr>
            <a:r>
              <a:t>Approve funding for a dedicated AI Steering Committee</a:t>
            </a:r>
          </a:p>
          <a:p>
            <a:pPr>
              <a:defRPr sz="2400"/>
            </a:pPr>
            <a:r>
              <a:t>Identify initial high-value use cases for the pilot</a:t>
            </a:r>
          </a:p>
          <a:p>
            <a:pPr>
              <a:defRPr sz="2400"/>
            </a:pPr>
            <a:r>
              <a:t>Mandate cross-departmental representation</a:t>
            </a:r>
          </a:p>
          <a:p>
            <a:pPr>
              <a:defRPr sz="2400"/>
            </a:pPr>
            <a:r>
              <a:t>Establish governance and success metrics immediately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