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Today, we are discussing a critical upgrade to how our company uses Artificial Intelligence. We are moving beyond basic AI integration to a system that is reliable, accurate, and grounded in our own corporate knowledge. This is about building trust in our AI tools.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Currently, when we use general-purpose AI, it is trained on the public internet. This means it doesn't know the specifics of our company—our policies, our product specs, or our client history. This lack of grounding is a major risk. It can lead to 'hallucinations,' where the AI confidently states something that is factually incorrect or non-existent within our organization.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solution is Retrieval-Augmented Generation, or RAG. Think of it like this: instead of asking the AI a question and hoping it remembers everything, we first give it a dedicated library—all our internal documents—and then tell it, 'Use only this information to answer.' RAG first retrieves the most accurate, relevant chunks of data, and *then* it uses that data to generate the answer. This makes the output traceable and reliable.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value proposition here is threefold: Trust, Efficiency, and Risk Mitigation. By grounding the AI in our data, we drastically reduce the risk of costly mistakes. Employees can get instant, accurate answers on complex topics, speeding up processes. Furthermore, because RAG points to the source document, we have an auditable trail, which is critical for compliance and legal teams.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don't need to overhaul everything overnight. We recommend a phased approach. We start small—a pilot program in a department with clear, contained knowledge, like HR or IT support. Once we prove value there, we expand to integrating our core knowledge bases. This structured approach minimizes disruption and allows us to measure the Return on Investment (ROI) at every step.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adopting RAG is not just a technology upgrade; it is a strategic investment in our operational resilience and employee productivity. Our immediate next steps are clear: we need executive sponsorship to form a steering committee, allocate budget for the initial pilot, and define success metrics. This allows us to move from discussion to execution.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our discussion: RAG is the necessary evolution of AI for an enterprise. It moves us from relying on general, unreliable models to using a system that is grounded in our proprietary knowledge. This means higher trust, lower risk, and immediate productivity gains for our teams.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Enhancing AI Accuracy with RAG</a:t>
            </a:r>
          </a:p>
        </p:txBody>
      </p:sp>
      <p:sp>
        <p:nvSpPr>
          <p:cNvPr id="3" name="Subtitle 2"/>
          <p:cNvSpPr>
            <a:spLocks noGrp="1"/>
          </p:cNvSpPr>
          <p:nvPr>
            <p:ph type="subTitle" idx="1"/>
          </p:nvPr>
        </p:nvSpPr>
        <p:spPr/>
        <p:txBody>
          <a:bodyPr/>
          <a:lstStyle/>
          <a:p>
            <a:r>
              <a:t>RAG: Building Trustworthy, Enterprise-Grade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Current AI Models Struggle with Proprietary Data</a:t>
            </a:r>
          </a:p>
        </p:txBody>
      </p:sp>
      <p:sp>
        <p:nvSpPr>
          <p:cNvPr id="3" name="Content Placeholder 2"/>
          <p:cNvSpPr>
            <a:spLocks noGrp="1"/>
          </p:cNvSpPr>
          <p:nvPr>
            <p:ph idx="1"/>
          </p:nvPr>
        </p:nvSpPr>
        <p:spPr/>
        <p:txBody>
          <a:bodyPr/>
          <a:lstStyle/>
          <a:p>
            <a:pPr>
              <a:defRPr sz="2400"/>
            </a:pPr>
            <a:r>
              <a:t>Generating inaccurate or misleading information</a:t>
            </a:r>
          </a:p>
          <a:p>
            <a:pPr>
              <a:defRPr sz="2400"/>
            </a:pPr>
            <a:r>
              <a:t>Lacking context from internal documents</a:t>
            </a:r>
          </a:p>
          <a:p>
            <a:pPr>
              <a:defRPr sz="2400"/>
            </a:pPr>
            <a:r>
              <a:t>Creating 'hallucinations' (false facts)</a:t>
            </a:r>
          </a:p>
          <a:p>
            <a:pPr>
              <a:defRPr sz="2400"/>
            </a:pPr>
            <a:r>
              <a:t>Increasing operational risk and compliance issues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RAG Grounds AI Answers in Our Company Knowledge</a:t>
            </a:r>
          </a:p>
        </p:txBody>
      </p:sp>
      <p:sp>
        <p:nvSpPr>
          <p:cNvPr id="3" name="Content Placeholder 2"/>
          <p:cNvSpPr>
            <a:spLocks noGrp="1"/>
          </p:cNvSpPr>
          <p:nvPr>
            <p:ph idx="1"/>
          </p:nvPr>
        </p:nvSpPr>
        <p:spPr/>
        <p:txBody>
          <a:bodyPr/>
          <a:lstStyle/>
          <a:p>
            <a:pPr>
              <a:defRPr sz="2400"/>
            </a:pPr>
            <a:r>
              <a:t>Retrieving relevant internal documents first</a:t>
            </a:r>
          </a:p>
          <a:p>
            <a:pPr>
              <a:defRPr sz="2400"/>
            </a:pPr>
            <a:r>
              <a:t>Providing context before generating text</a:t>
            </a:r>
          </a:p>
          <a:p>
            <a:pPr>
              <a:defRPr sz="2400"/>
            </a:pPr>
            <a:r>
              <a:t>Ensuring answers are verifiable and accurate</a:t>
            </a:r>
          </a:p>
          <a:p>
            <a:pPr>
              <a:defRPr sz="2400"/>
            </a:pPr>
            <a:r>
              <a:t>Connecting AI output to source material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RAG Drives Trust, Efficiency, and Compliance</a:t>
            </a:r>
          </a:p>
        </p:txBody>
      </p:sp>
      <p:sp>
        <p:nvSpPr>
          <p:cNvPr id="3" name="Content Placeholder 2"/>
          <p:cNvSpPr>
            <a:spLocks noGrp="1"/>
          </p:cNvSpPr>
          <p:nvPr>
            <p:ph idx="1"/>
          </p:nvPr>
        </p:nvSpPr>
        <p:spPr/>
        <p:txBody>
          <a:bodyPr/>
          <a:lstStyle/>
          <a:p>
            <a:pPr>
              <a:defRPr sz="2400"/>
            </a:pPr>
            <a:r>
              <a:t>Reducing operational risk from misinformation</a:t>
            </a:r>
          </a:p>
          <a:p>
            <a:pPr>
              <a:defRPr sz="2400"/>
            </a:pPr>
            <a:r>
              <a:t>Empowering employees with instant expertise</a:t>
            </a:r>
          </a:p>
          <a:p>
            <a:pPr>
              <a:defRPr sz="2400"/>
            </a:pPr>
            <a:r>
              <a:t>Improving decision-making speed across departments</a:t>
            </a:r>
          </a:p>
          <a:p>
            <a:pPr>
              <a:defRPr sz="2400"/>
            </a:pPr>
            <a:r>
              <a:t>Providing auditable sources for all answers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Phased Adoption: A Manageable Implementation Roadmap</a:t>
            </a:r>
          </a:p>
        </p:txBody>
      </p:sp>
      <p:sp>
        <p:nvSpPr>
          <p:cNvPr id="3" name="Content Placeholder 2"/>
          <p:cNvSpPr>
            <a:spLocks noGrp="1"/>
          </p:cNvSpPr>
          <p:nvPr>
            <p:ph idx="1"/>
          </p:nvPr>
        </p:nvSpPr>
        <p:spPr/>
        <p:txBody>
          <a:bodyPr/>
          <a:lstStyle/>
          <a:p>
            <a:pPr>
              <a:defRPr sz="2400"/>
            </a:pPr>
            <a:r>
              <a:t>Phase 1: Pilot with low-risk departments</a:t>
            </a:r>
          </a:p>
          <a:p>
            <a:pPr>
              <a:defRPr sz="2400"/>
            </a:pPr>
            <a:r>
              <a:t>Phase 2: Integrate core knowledge bases</a:t>
            </a:r>
          </a:p>
          <a:p>
            <a:pPr>
              <a:defRPr sz="2400"/>
            </a:pPr>
            <a:r>
              <a:t>Phase 3: Expand to mission-critical functions</a:t>
            </a:r>
          </a:p>
          <a:p>
            <a:pPr>
              <a:defRPr sz="2400"/>
            </a:pPr>
            <a:r>
              <a:t>Measure ROI and refine based on feedback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Action Plan: Approve Investment in Enterprise AI</a:t>
            </a:r>
          </a:p>
        </p:txBody>
      </p:sp>
      <p:sp>
        <p:nvSpPr>
          <p:cNvPr id="3" name="Content Placeholder 2"/>
          <p:cNvSpPr>
            <a:spLocks noGrp="1"/>
          </p:cNvSpPr>
          <p:nvPr>
            <p:ph idx="1"/>
          </p:nvPr>
        </p:nvSpPr>
        <p:spPr/>
        <p:txBody>
          <a:bodyPr/>
          <a:lstStyle/>
          <a:p>
            <a:pPr>
              <a:defRPr sz="2400"/>
            </a:pPr>
            <a:r>
              <a:t>Form a cross-functional AI Steering Committee</a:t>
            </a:r>
          </a:p>
          <a:p>
            <a:pPr>
              <a:defRPr sz="2400"/>
            </a:pPr>
            <a:r>
              <a:t>Allocate resources for the initial pilot phase</a:t>
            </a:r>
          </a:p>
          <a:p>
            <a:pPr>
              <a:defRPr sz="2400"/>
            </a:pPr>
            <a:r>
              <a:t>Define key success metrics (e.g., time saved, error rate)</a:t>
            </a:r>
          </a:p>
          <a:p>
            <a:pPr>
              <a:defRPr sz="2400"/>
            </a:pPr>
            <a:r>
              <a:t>Schedule follow-up deep-dive on vendor selection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RAG Delivers Reliable, Enterprise AI</a:t>
            </a:r>
          </a:p>
        </p:txBody>
      </p:sp>
      <p:sp>
        <p:nvSpPr>
          <p:cNvPr id="3" name="Content Placeholder 2"/>
          <p:cNvSpPr>
            <a:spLocks noGrp="1"/>
          </p:cNvSpPr>
          <p:nvPr>
            <p:ph idx="1"/>
          </p:nvPr>
        </p:nvSpPr>
        <p:spPr/>
        <p:txBody>
          <a:bodyPr/>
          <a:lstStyle/>
          <a:p>
            <a:pPr>
              <a:defRPr sz="2400"/>
            </a:pPr>
            <a:r>
              <a:t>Grounding AI in internal, verifiable data</a:t>
            </a:r>
          </a:p>
          <a:p>
            <a:pPr>
              <a:defRPr sz="2400"/>
            </a:pPr>
            <a:r>
              <a:t>Mitigating operational risk and hallucinations</a:t>
            </a:r>
          </a:p>
          <a:p>
            <a:pPr>
              <a:defRPr sz="2400"/>
            </a:pPr>
            <a:r>
              <a:t>Accelerating employee productivity and decision-making</a:t>
            </a:r>
          </a:p>
          <a:p>
            <a:pPr>
              <a:defRPr sz="2400"/>
            </a:pPr>
            <a:r>
              <a:t>Establishing a clear path to AI maturity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