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discussing a critical upgrade to how we use AI: Retrieval-Augmented Generation, or RAG. Simply put, RAG allows our AI tools to stop guessing and start answering based on our company's actual, verified knowledge base. This is key to making AI reliable enough for executive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 structured discussion today. We'll start by understanding why our current AI tools fall short, then dive into what RAG is and how it works to fix those issues. Finally, we will discuss the concrete business value and what the next steps look like for our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risk with standard Large Language Models is 'hallucination'—they generate answers that sound authoritative but are completely false. Because they are trained on the public internet, they don't know about our internal policies, our specific client data, or our latest quarterly reports. This lack of grounding is a major operational risk.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RAG comes in. Instead of letting the LLM guess, we first give it a search tool. It searches our entire internal knowledge base—our manuals, our reports, our databases—and retrieves the most relevant chunks of text. Then, it uses those chunks to formulate an answer. This process ensures the answer is factually grounded in *our* truth.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impact is massive. By centralizing knowledge and making it instantly accessible via RAG, we drastically cut down the time employees spend searching through shared drives. It standardizes our responses, ensuring compliance, and ultimately, it allows our teams to make faster, more confident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recommend a phased approach. We shouldn't try to overhaul everything at once. We should start with a pilot—perhaps the legal department or the technical support team—where the value of accurate, timely information is highest. This allows us to prove the ROI and refine the process before a company-wide rollout.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Enhancing AI Accuracy with Retrieval-Augmented Generation</a:t>
            </a:r>
          </a:p>
        </p:txBody>
      </p:sp>
      <p:sp>
        <p:nvSpPr>
          <p:cNvPr id="3" name="Subtitle 2"/>
          <p:cNvSpPr>
            <a:spLocks noGrp="1"/>
          </p:cNvSpPr>
          <p:nvPr>
            <p:ph type="subTitle" idx="1"/>
          </p:nvPr>
        </p:nvSpPr>
        <p:spPr/>
        <p:txBody>
          <a:bodyPr/>
          <a:lstStyle/>
          <a:p>
            <a:r>
              <a:t>Harnessing proprietary data for trustworthy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Understanding RAG's Value</a:t>
            </a:r>
          </a:p>
        </p:txBody>
      </p:sp>
      <p:sp>
        <p:nvSpPr>
          <p:cNvPr id="3" name="Content Placeholder 2"/>
          <p:cNvSpPr>
            <a:spLocks noGrp="1"/>
          </p:cNvSpPr>
          <p:nvPr>
            <p:ph idx="1"/>
          </p:nvPr>
        </p:nvSpPr>
        <p:spPr/>
        <p:txBody>
          <a:bodyPr/>
          <a:lstStyle/>
          <a:p>
            <a:pPr>
              <a:defRPr sz="2400"/>
            </a:pPr>
            <a:r>
              <a:t>Understanding the limitations of current LLMs</a:t>
            </a:r>
          </a:p>
          <a:p>
            <a:pPr>
              <a:defRPr sz="2400"/>
            </a:pPr>
            <a:r>
              <a:t>How RAG grounds AI in proprietary data</a:t>
            </a:r>
          </a:p>
          <a:p>
            <a:pPr>
              <a:defRPr sz="2400"/>
            </a:pPr>
            <a:r>
              <a:t>The tangible business benefits of adoption</a:t>
            </a:r>
          </a:p>
          <a:p>
            <a:pPr>
              <a:defRPr sz="2400"/>
            </a:pPr>
            <a:r>
              <a:t>A clear roadmap for implementation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Standard AI Answers Can Be Unreliable and Risky</a:t>
            </a:r>
          </a:p>
        </p:txBody>
      </p:sp>
      <p:sp>
        <p:nvSpPr>
          <p:cNvPr id="3" name="Content Placeholder 2"/>
          <p:cNvSpPr>
            <a:spLocks noGrp="1"/>
          </p:cNvSpPr>
          <p:nvPr>
            <p:ph idx="1"/>
          </p:nvPr>
        </p:nvSpPr>
        <p:spPr/>
        <p:txBody>
          <a:bodyPr/>
          <a:lstStyle/>
          <a:p>
            <a:pPr>
              <a:defRPr sz="2400"/>
            </a:pPr>
            <a:r>
              <a:t>Generating fabricated or incorrect information (Hallucinations)</a:t>
            </a:r>
          </a:p>
          <a:p>
            <a:pPr>
              <a:defRPr sz="2400"/>
            </a:pPr>
            <a:r>
              <a:t>Lacking context on proprietary company data</a:t>
            </a:r>
          </a:p>
          <a:p>
            <a:pPr>
              <a:defRPr sz="2400"/>
            </a:pPr>
            <a:r>
              <a:t>Difficulty citing specific, verifiable sources</a:t>
            </a:r>
          </a:p>
          <a:p>
            <a:pPr>
              <a:defRPr sz="2400"/>
            </a:pPr>
            <a:r>
              <a:t>Increasing legal and operational risk exposure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Grounds AI Answers in Verified Company Knowledge</a:t>
            </a:r>
          </a:p>
        </p:txBody>
      </p:sp>
      <p:sp>
        <p:nvSpPr>
          <p:cNvPr id="3" name="Content Placeholder 2"/>
          <p:cNvSpPr>
            <a:spLocks noGrp="1"/>
          </p:cNvSpPr>
          <p:nvPr>
            <p:ph idx="1"/>
          </p:nvPr>
        </p:nvSpPr>
        <p:spPr/>
        <p:txBody>
          <a:bodyPr/>
          <a:lstStyle/>
          <a:p>
            <a:pPr>
              <a:defRPr sz="2400"/>
            </a:pPr>
            <a:r>
              <a:t>Retrieving relevant internal documents first</a:t>
            </a:r>
          </a:p>
          <a:p>
            <a:pPr>
              <a:defRPr sz="2400"/>
            </a:pPr>
            <a:r>
              <a:t>Using company data as the primary source</a:t>
            </a:r>
          </a:p>
          <a:p>
            <a:pPr>
              <a:defRPr sz="2400"/>
            </a:pPr>
            <a:r>
              <a:t>Generating answers based on facts, not guesses</a:t>
            </a:r>
          </a:p>
          <a:p>
            <a:pPr>
              <a:defRPr sz="2400"/>
            </a:pPr>
            <a:r>
              <a:t>Providing verifiable source citations for every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Adopting RAG Will Drive Efficiency and Reduce Operational Risk</a:t>
            </a:r>
          </a:p>
        </p:txBody>
      </p:sp>
      <p:sp>
        <p:nvSpPr>
          <p:cNvPr id="3" name="Content Placeholder 2"/>
          <p:cNvSpPr>
            <a:spLocks noGrp="1"/>
          </p:cNvSpPr>
          <p:nvPr>
            <p:ph idx="1"/>
          </p:nvPr>
        </p:nvSpPr>
        <p:spPr/>
        <p:txBody>
          <a:bodyPr/>
          <a:lstStyle/>
          <a:p>
            <a:pPr>
              <a:defRPr sz="2400"/>
            </a:pPr>
            <a:r>
              <a:t>Faster employee access to critical information</a:t>
            </a:r>
          </a:p>
          <a:p>
            <a:pPr>
              <a:defRPr sz="2400"/>
            </a:pPr>
            <a:r>
              <a:t>Consistent, policy-compliant internal responses</a:t>
            </a:r>
          </a:p>
          <a:p>
            <a:pPr>
              <a:defRPr sz="2400"/>
            </a:pPr>
            <a:r>
              <a:t>Reduced need for human verification time</a:t>
            </a:r>
          </a:p>
          <a:p>
            <a:pPr>
              <a:defRPr sz="2400"/>
            </a:pPr>
            <a:r>
              <a:t>Improved decision-making speed across departments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Start with a Pilot Program</a:t>
            </a:r>
          </a:p>
        </p:txBody>
      </p:sp>
      <p:sp>
        <p:nvSpPr>
          <p:cNvPr id="3" name="Content Placeholder 2"/>
          <p:cNvSpPr>
            <a:spLocks noGrp="1"/>
          </p:cNvSpPr>
          <p:nvPr>
            <p:ph idx="1"/>
          </p:nvPr>
        </p:nvSpPr>
        <p:spPr/>
        <p:txBody>
          <a:bodyPr/>
          <a:lstStyle/>
          <a:p>
            <a:pPr>
              <a:defRPr sz="2400"/>
            </a:pPr>
            <a:r>
              <a:t>Identify one high-value, knowledge-intensive department</a:t>
            </a:r>
          </a:p>
          <a:p>
            <a:pPr>
              <a:defRPr sz="2400"/>
            </a:pPr>
            <a:r>
              <a:t>Define clear success metrics and KPIs</a:t>
            </a:r>
          </a:p>
          <a:p>
            <a:pPr>
              <a:defRPr sz="2400"/>
            </a:pPr>
            <a:r>
              <a:t>Pilot RAG implementation on a limited dataset</a:t>
            </a:r>
          </a:p>
          <a:p>
            <a:pPr>
              <a:defRPr sz="2400"/>
            </a:pPr>
            <a:r>
              <a:t>Establish a cross-functional governance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