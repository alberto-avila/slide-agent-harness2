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The purpose of this presentation is not just to report survey data, but to translate those findings into mandatory, structural policy changes. We must ensure our work model supports both productivity and, critically, employee connection and retention.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clearly shows that while productivity is up for many, the cost is connection. Isolation is a major concern, and the current meeting culture is draining time and energy. If we do nothing, we risk a significant exodus of talent.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findings are critical. The isolation rate is alarming. The meeting bloat suggests we are optimizing for presence, not output. And the onboarding gap shows a clear structural failure for new talent.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doesn't just tell us what's happening; it tells us what the *risk* is. If we fail to address connection and structure, we are directly jeopardizing our talent pipeline and our ability to retain our best people.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policies are our direct response to the data. We need to formalize the hybrid model, not just suggest it. The budget for team gatherings is key to combating isolation. The focus blocks protect deep work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 is clear: we need to act now. I recommend forming a dedicated task force—combining HR, Operations, and key managers—to own the policy rollout. This requires immediate approval and resource allocation. Thank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findings show that the current model is unsustainable. The solution is not just 'more flexibility,' but *structured* flexibility. We must treat policy design as a strategic investment in our most valuable asset: our people.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Defining Our Future: Optimizing the Hybrid Work Model</a:t>
            </a:r>
          </a:p>
        </p:txBody>
      </p:sp>
      <p:sp>
        <p:nvSpPr>
          <p:cNvPr id="3" name="Subtitle 2"/>
          <p:cNvSpPr>
            <a:spLocks noGrp="1"/>
          </p:cNvSpPr>
          <p:nvPr>
            <p:ph type="subTitle" idx="1"/>
          </p:nvPr>
        </p:nvSpPr>
        <p:spPr/>
        <p:txBody>
          <a:bodyPr/>
          <a:lstStyle/>
          <a:p>
            <a:r>
              <a:t>Translating Survey Data into Policy 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Model Risks Isolation and Operational Flow</a:t>
            </a:r>
          </a:p>
        </p:txBody>
      </p:sp>
      <p:sp>
        <p:nvSpPr>
          <p:cNvPr id="3" name="Content Placeholder 2"/>
          <p:cNvSpPr>
            <a:spLocks noGrp="1"/>
          </p:cNvSpPr>
          <p:nvPr>
            <p:ph idx="1"/>
          </p:nvPr>
        </p:nvSpPr>
        <p:spPr/>
        <p:txBody>
          <a:bodyPr/>
          <a:lstStyle/>
          <a:p>
            <a:pPr>
              <a:defRPr sz="2400"/>
            </a:pPr>
            <a:r>
              <a:t>High risk of employee isolation and disconnection</a:t>
            </a:r>
          </a:p>
          <a:p>
            <a:pPr>
              <a:defRPr sz="2400"/>
            </a:pPr>
            <a:r>
              <a:t>Operational inefficiency due to meeting bloat</a:t>
            </a:r>
          </a:p>
          <a:p>
            <a:pPr>
              <a:defRPr sz="2400"/>
            </a:pPr>
            <a:r>
              <a:t>Significant talent retention risk if flexibility is lost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Data: Connection Gaps, Meeting Bloat, and Onboarding</a:t>
            </a:r>
          </a:p>
        </p:txBody>
      </p:sp>
      <p:sp>
        <p:nvSpPr>
          <p:cNvPr id="3" name="Content Placeholder 2"/>
          <p:cNvSpPr>
            <a:spLocks noGrp="1"/>
          </p:cNvSpPr>
          <p:nvPr>
            <p:ph idx="1"/>
          </p:nvPr>
        </p:nvSpPr>
        <p:spPr/>
        <p:txBody>
          <a:bodyPr/>
          <a:lstStyle/>
          <a:p>
            <a:pPr>
              <a:defRPr sz="2400"/>
            </a:pPr>
            <a:r>
              <a:t>41% of remote staff report weekly disconnection</a:t>
            </a:r>
          </a:p>
          <a:p>
            <a:pPr>
              <a:defRPr sz="2400"/>
            </a:pPr>
            <a:r>
              <a:t>Meetings increased 50% since 2024 (9 to 13/week)</a:t>
            </a:r>
          </a:p>
          <a:p>
            <a:pPr>
              <a:defRPr sz="2400"/>
            </a:pPr>
            <a:r>
              <a:t>New hires rate remote onboarding significantly lower (2.6/5)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 Risk to Retention and Engagement</a:t>
            </a:r>
          </a:p>
        </p:txBody>
      </p:sp>
      <p:sp>
        <p:nvSpPr>
          <p:cNvPr id="3" name="Content Placeholder 2"/>
          <p:cNvSpPr>
            <a:spLocks noGrp="1"/>
          </p:cNvSpPr>
          <p:nvPr>
            <p:ph idx="1"/>
          </p:nvPr>
        </p:nvSpPr>
        <p:spPr/>
        <p:txBody>
          <a:bodyPr/>
          <a:lstStyle/>
          <a:p>
            <a:pPr>
              <a:defRPr sz="2400"/>
            </a:pPr>
            <a:r>
              <a:t>Isolation threatens long-term team cohesion</a:t>
            </a:r>
          </a:p>
          <a:p>
            <a:pPr>
              <a:defRPr sz="2400"/>
            </a:pPr>
            <a:r>
              <a:t>Inefficient meetings reduce focused work time</a:t>
            </a:r>
          </a:p>
          <a:p>
            <a:pPr>
              <a:defRPr sz="2400"/>
            </a:pPr>
            <a:r>
              <a:t>Lack of structure undermines new employee integration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Solution: Structural Policies for Hybrid Success</a:t>
            </a:r>
          </a:p>
        </p:txBody>
      </p:sp>
      <p:sp>
        <p:nvSpPr>
          <p:cNvPr id="3" name="Content Placeholder 2"/>
          <p:cNvSpPr>
            <a:spLocks noGrp="1"/>
          </p:cNvSpPr>
          <p:nvPr>
            <p:ph idx="1"/>
          </p:nvPr>
        </p:nvSpPr>
        <p:spPr/>
        <p:txBody>
          <a:bodyPr/>
          <a:lstStyle/>
          <a:p>
            <a:pPr>
              <a:defRPr sz="2400"/>
            </a:pPr>
            <a:r>
              <a:t>Mandate structured in-person onboarding for new hires</a:t>
            </a:r>
          </a:p>
          <a:p>
            <a:pPr>
              <a:defRPr sz="2400"/>
            </a:pPr>
            <a:r>
              <a:t>Implement quarterly team cohesion budgets</a:t>
            </a:r>
          </a:p>
          <a:p>
            <a:pPr>
              <a:defRPr sz="2400"/>
            </a:pPr>
            <a:r>
              <a:t>Establish 'Focus Time' blocks and meeting audits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 to Action: Approve Hybrid Policy Task Force</a:t>
            </a:r>
          </a:p>
        </p:txBody>
      </p:sp>
      <p:sp>
        <p:nvSpPr>
          <p:cNvPr id="3" name="Content Placeholder 2"/>
          <p:cNvSpPr>
            <a:spLocks noGrp="1"/>
          </p:cNvSpPr>
          <p:nvPr>
            <p:ph idx="1"/>
          </p:nvPr>
        </p:nvSpPr>
        <p:spPr/>
        <p:txBody>
          <a:bodyPr/>
          <a:lstStyle/>
          <a:p>
            <a:pPr>
              <a:defRPr sz="2400"/>
            </a:pPr>
            <a:r>
              <a:t>Approve funding for policy design and implementation</a:t>
            </a:r>
          </a:p>
          <a:p>
            <a:pPr>
              <a:defRPr sz="2400"/>
            </a:pPr>
            <a:r>
              <a:t>Form a cross-functional task force (HR/Operations)</a:t>
            </a:r>
          </a:p>
          <a:p>
            <a:pPr>
              <a:defRPr sz="2400"/>
            </a:pPr>
            <a:r>
              <a:t>Set a 90-day timeline for policy rollout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A Strategic Investment in People</a:t>
            </a:r>
          </a:p>
        </p:txBody>
      </p:sp>
      <p:sp>
        <p:nvSpPr>
          <p:cNvPr id="3" name="Content Placeholder 2"/>
          <p:cNvSpPr>
            <a:spLocks noGrp="1"/>
          </p:cNvSpPr>
          <p:nvPr>
            <p:ph idx="1"/>
          </p:nvPr>
        </p:nvSpPr>
        <p:spPr/>
        <p:txBody>
          <a:bodyPr/>
          <a:lstStyle/>
          <a:p>
            <a:pPr>
              <a:defRPr sz="2400"/>
            </a:pPr>
            <a:r>
              <a:t>Policy must address connection and structure</a:t>
            </a:r>
          </a:p>
          <a:p>
            <a:pPr>
              <a:defRPr sz="2400"/>
            </a:pPr>
            <a:r>
              <a:t>Hybrid work requires proactive policy design</a:t>
            </a:r>
          </a:p>
          <a:p>
            <a:pPr>
              <a:defRPr sz="2400"/>
            </a:pPr>
            <a:r>
              <a:t>Investing in people mitigates operational risk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