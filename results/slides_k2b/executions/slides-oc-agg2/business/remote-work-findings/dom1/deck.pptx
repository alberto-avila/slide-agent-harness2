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The purpose of this presentation is to translate the data from our comprehensive 2026 employee survey into actionable policy recommendations. We need to define a sustainable, high-performing work model that supports our talent and minimizes operational risk.</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survey highlights that while productivity can be high remotely, the cost is a significant decline in social connection and a feeling of being disconnected. We are seeing early signs of burnout, and if we don't address the structural issues, we risk losing our top talent.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numbers are critical. The 41% isolation figure is a direct measure of our cultural health. Furthermore, the onboarding gap shows that remote work, if unstructured, fails to integrate new talent effectively. These are not just 'feelings'; they are measurable risks to our workforce.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recommendation is not to return to the office, but to formalize a 'hybrid default.' This means setting clear expectations, like defining anchor days, and crucially, investing in structured support for new hires and remote team cohesion.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implementing these structural policies, we are not just improving 'feelings'; we are directly addressing the root causes of attrition. We expect to see measurable improvements in retention rates and overall employee wellbeing, which translates directly to a more stable and productive workforce.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move forward, we need executive buy-in to form a dedicated task force. This group will be responsible for drafting the specific, measurable policies—the 'Future Work Policy'—and defining the metrics we will use to prove its success. This is our immediate ask.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Defining the Sustainable Future of Work</a:t>
            </a:r>
          </a:p>
        </p:txBody>
      </p:sp>
      <p:sp>
        <p:nvSpPr>
          <p:cNvPr id="3" name="Subtitle 2"/>
          <p:cNvSpPr>
            <a:spLocks noGrp="1"/>
          </p:cNvSpPr>
          <p:nvPr>
            <p:ph type="subTitle" idx="1"/>
          </p:nvPr>
        </p:nvSpPr>
        <p:spPr/>
        <p:txBody>
          <a:bodyPr/>
          <a:lstStyle/>
          <a:p>
            <a:r>
              <a:t>Findings from the Remote Work Survey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Current Model Risks Burnout and Isolation</a:t>
            </a:r>
          </a:p>
        </p:txBody>
      </p:sp>
      <p:sp>
        <p:nvSpPr>
          <p:cNvPr id="3" name="Content Placeholder 2"/>
          <p:cNvSpPr>
            <a:spLocks noGrp="1"/>
          </p:cNvSpPr>
          <p:nvPr>
            <p:ph idx="1"/>
          </p:nvPr>
        </p:nvSpPr>
        <p:spPr/>
        <p:txBody>
          <a:bodyPr/>
          <a:lstStyle/>
          <a:p>
            <a:pPr>
              <a:defRPr sz="2400"/>
            </a:pPr>
            <a:r>
              <a:t>Isolation is impacting team connection and morale.</a:t>
            </a:r>
          </a:p>
          <a:p>
            <a:pPr>
              <a:defRPr sz="2400"/>
            </a:pPr>
            <a:r>
              <a:t>Inefficient meeting culture drains employee time.</a:t>
            </a:r>
          </a:p>
          <a:p>
            <a:pPr>
              <a:defRPr sz="2400"/>
            </a:pPr>
            <a:r>
              <a:t>Lack of structure increases operational risk.</a:t>
            </a:r>
          </a:p>
          <a:p>
            <a:pPr>
              <a:defRPr sz="2400"/>
            </a:pPr>
            <a:r>
              <a:t>Retention is threatened if flexibility is removed.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41% Feel Disconnected from Team Life</a:t>
            </a:r>
          </a:p>
        </p:txBody>
      </p:sp>
      <p:sp>
        <p:nvSpPr>
          <p:cNvPr id="3" name="Content Placeholder 2"/>
          <p:cNvSpPr>
            <a:spLocks noGrp="1"/>
          </p:cNvSpPr>
          <p:nvPr>
            <p:ph idx="1"/>
          </p:nvPr>
        </p:nvSpPr>
        <p:spPr/>
        <p:txBody>
          <a:bodyPr/>
          <a:lstStyle/>
          <a:p>
            <a:pPr>
              <a:defRPr sz="2400"/>
            </a:pPr>
            <a:r>
              <a:t>Fully remote staff report high weekly isolation.</a:t>
            </a:r>
          </a:p>
          <a:p>
            <a:pPr>
              <a:defRPr sz="2400"/>
            </a:pPr>
            <a:r>
              <a:t>New hires rate remote onboarding much lower (2.6/5).</a:t>
            </a:r>
          </a:p>
          <a:p>
            <a:pPr>
              <a:defRPr sz="2400"/>
            </a:pPr>
            <a:r>
              <a:t>Meeting frequency increased by 44% since 2024.</a:t>
            </a:r>
          </a:p>
          <a:p>
            <a:pPr>
              <a:defRPr sz="2400"/>
            </a:pPr>
            <a:r>
              <a:t>29% would leave if remote options were removed.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Adopt a Hybrid Default Policy</a:t>
            </a:r>
          </a:p>
        </p:txBody>
      </p:sp>
      <p:sp>
        <p:nvSpPr>
          <p:cNvPr id="3" name="Content Placeholder 2"/>
          <p:cNvSpPr>
            <a:spLocks noGrp="1"/>
          </p:cNvSpPr>
          <p:nvPr>
            <p:ph idx="1"/>
          </p:nvPr>
        </p:nvSpPr>
        <p:spPr/>
        <p:txBody>
          <a:bodyPr/>
          <a:lstStyle/>
          <a:p>
            <a:pPr>
              <a:defRPr sz="2400"/>
            </a:pPr>
            <a:r>
              <a:t>Formalize hybrid work as the standard model.</a:t>
            </a:r>
          </a:p>
          <a:p>
            <a:pPr>
              <a:defRPr sz="2400"/>
            </a:pPr>
            <a:r>
              <a:t>Implement structured, in-person onboarding.</a:t>
            </a:r>
          </a:p>
          <a:p>
            <a:pPr>
              <a:defRPr sz="2400"/>
            </a:pPr>
            <a:r>
              <a:t>Mandate meeting audits and focus time blocks.</a:t>
            </a:r>
          </a:p>
          <a:p>
            <a:pPr>
              <a:defRPr sz="2400"/>
            </a:pPr>
            <a:r>
              <a:t>Fund quarterly team gatherings for connection.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Policies Will Boost Retention and Wellbeing</a:t>
            </a:r>
          </a:p>
        </p:txBody>
      </p:sp>
      <p:sp>
        <p:nvSpPr>
          <p:cNvPr id="3" name="Content Placeholder 2"/>
          <p:cNvSpPr>
            <a:spLocks noGrp="1"/>
          </p:cNvSpPr>
          <p:nvPr>
            <p:ph idx="1"/>
          </p:nvPr>
        </p:nvSpPr>
        <p:spPr/>
        <p:txBody>
          <a:bodyPr/>
          <a:lstStyle/>
          <a:p>
            <a:pPr>
              <a:defRPr sz="2400"/>
            </a:pPr>
            <a:r>
              <a:t>Increased employee engagement and morale.</a:t>
            </a:r>
          </a:p>
          <a:p>
            <a:pPr>
              <a:defRPr sz="2400"/>
            </a:pPr>
            <a:r>
              <a:t>Reduced operational risk and burnout rates.</a:t>
            </a:r>
          </a:p>
          <a:p>
            <a:pPr>
              <a:defRPr sz="2400"/>
            </a:pPr>
            <a:r>
              <a:t>Improved talent acquisition and integration.</a:t>
            </a:r>
          </a:p>
          <a:p>
            <a:pPr>
              <a:defRPr sz="2400"/>
            </a:pPr>
            <a:r>
              <a:t>Higher job satisfaction and loyalty scores.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Next Step: Design the Future Work Policy</a:t>
            </a:r>
          </a:p>
        </p:txBody>
      </p:sp>
      <p:sp>
        <p:nvSpPr>
          <p:cNvPr id="3" name="Content Placeholder 2"/>
          <p:cNvSpPr>
            <a:spLocks noGrp="1"/>
          </p:cNvSpPr>
          <p:nvPr>
            <p:ph idx="1"/>
          </p:nvPr>
        </p:nvSpPr>
        <p:spPr/>
        <p:txBody>
          <a:bodyPr/>
          <a:lstStyle/>
          <a:p>
            <a:pPr>
              <a:defRPr sz="2400"/>
            </a:pPr>
            <a:r>
              <a:t>Form a cross-functional task force immediately.</a:t>
            </a:r>
          </a:p>
          <a:p>
            <a:pPr>
              <a:defRPr sz="2400"/>
            </a:pPr>
            <a:r>
              <a:t>Allocate resources for policy design and rollout.</a:t>
            </a:r>
          </a:p>
          <a:p>
            <a:pPr>
              <a:defRPr sz="2400"/>
            </a:pPr>
            <a:r>
              <a:t>Establish clear guidelines for hybrid scheduling.</a:t>
            </a:r>
          </a:p>
          <a:p>
            <a:pPr>
              <a:defRPr sz="2400"/>
            </a:pPr>
            <a:r>
              <a:t>Define KPIs for measuring policy success.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