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Goal: To transition from simply reporting survey data to proposing mandatory structural and policy changes. We must convince the leadership that these changes are a strategic investment in retention and EX, not just employee perks.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must frame this risk in terms of business cost. The data shows 29% are likely to leave if remote options are removed. This is our primary hook. The risk is not 'working from home,' the risk is 'losing people' or 'losing productivity.'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bullets are the evidence. They prove the risk. The isolation data is critical because it links directly to wellbeing and retention. The onboarding data proves structural failure. The meeting data proves operational waste.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'So what?' moment. It tells HR leadership why they should care. We are moving from 'Here is the data' to 'Therefore, we must act.' The implication is that we must treat flexibility and connection as core business assets.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not suggestions; they are mandates. They require policy change and resource allocation. We must frame these as investments in EX and retention. The 'anchor days' policy is key to combining flexibility with necessary in-person connection.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CTA must be a clear request. We are not asking for 'more time'; we are asking for 'resources' and 'mandate.' This makes the presentation actionable and high-stakes. The task force ensures accountability across departments.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Designing a Sustainable Future of Work</a:t>
            </a:r>
          </a:p>
        </p:txBody>
      </p:sp>
      <p:sp>
        <p:nvSpPr>
          <p:cNvPr id="3" name="Subtitle 2"/>
          <p:cNvSpPr>
            <a:spLocks noGrp="1"/>
          </p:cNvSpPr>
          <p:nvPr>
            <p:ph type="subTitle" idx="1"/>
          </p:nvPr>
        </p:nvSpPr>
        <p:spPr/>
        <p:txBody>
          <a:bodyPr/>
          <a:lstStyle/>
          <a:p>
            <a:r>
              <a:t>Leveraging data to build a resilient and engaging workforce.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Inconsistent Models Create Significant Retention Risks</a:t>
            </a:r>
          </a:p>
        </p:txBody>
      </p:sp>
      <p:sp>
        <p:nvSpPr>
          <p:cNvPr id="3" name="Content Placeholder 2"/>
          <p:cNvSpPr>
            <a:spLocks noGrp="1"/>
          </p:cNvSpPr>
          <p:nvPr>
            <p:ph idx="1"/>
          </p:nvPr>
        </p:nvSpPr>
        <p:spPr/>
        <p:txBody>
          <a:bodyPr/>
          <a:lstStyle/>
          <a:p>
            <a:pPr>
              <a:defRPr sz="2400"/>
            </a:pPr>
            <a:r>
              <a:t>High risk of talent attrition if flexibility is restricted.</a:t>
            </a:r>
          </a:p>
          <a:p>
            <a:pPr>
              <a:defRPr sz="2400"/>
            </a:pPr>
            <a:r>
              <a:t>Operational efficiency declines without structured collaboration.</a:t>
            </a:r>
          </a:p>
          <a:p>
            <a:pPr>
              <a:defRPr sz="2400"/>
            </a:pPr>
            <a:r>
              <a:t>Current models fail to support new hire integration.</a:t>
            </a:r>
          </a:p>
          <a:p>
            <a:pPr>
              <a:defRPr sz="2400"/>
            </a:pPr>
            <a:r>
              <a:t>Burnout risk remains high despite improvements.</a:t>
            </a:r>
          </a:p>
          <a:p>
            <a:pPr>
              <a:defRPr sz="2400"/>
            </a:pPr>
            <a:r>
              <a:t>Cost of inaction exceeds investment in policy changes.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Isolation and Experience Gaps Are Our Biggest Blind Spots</a:t>
            </a:r>
          </a:p>
        </p:txBody>
      </p:sp>
      <p:sp>
        <p:nvSpPr>
          <p:cNvPr id="3" name="Content Placeholder 2"/>
          <p:cNvSpPr>
            <a:spLocks noGrp="1"/>
          </p:cNvSpPr>
          <p:nvPr>
            <p:ph idx="1"/>
          </p:nvPr>
        </p:nvSpPr>
        <p:spPr/>
        <p:txBody>
          <a:bodyPr/>
          <a:lstStyle/>
          <a:p>
            <a:pPr>
              <a:defRPr sz="2400"/>
            </a:pPr>
            <a:r>
              <a:t>41% of remote staff feel disconnected weekly.</a:t>
            </a:r>
          </a:p>
          <a:p>
            <a:pPr>
              <a:defRPr sz="2400"/>
            </a:pPr>
            <a:r>
              <a:t>New hires rate remote onboarding 1.3 points lower than in-person.</a:t>
            </a:r>
          </a:p>
          <a:p>
            <a:pPr>
              <a:defRPr sz="2400"/>
            </a:pPr>
            <a:r>
              <a:t>Meetings increased 50% since 2024; 67% deemed unnecessary.</a:t>
            </a:r>
          </a:p>
          <a:p>
            <a:pPr>
              <a:defRPr sz="2400"/>
            </a:pPr>
            <a:r>
              <a:t>Commute time is the primary driver for flexibility preference.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Poor EX and Isolation Directly Threaten Talent Retention</a:t>
            </a:r>
          </a:p>
        </p:txBody>
      </p:sp>
      <p:sp>
        <p:nvSpPr>
          <p:cNvPr id="3" name="Content Placeholder 2"/>
          <p:cNvSpPr>
            <a:spLocks noGrp="1"/>
          </p:cNvSpPr>
          <p:nvPr>
            <p:ph idx="1"/>
          </p:nvPr>
        </p:nvSpPr>
        <p:spPr/>
        <p:txBody>
          <a:bodyPr/>
          <a:lstStyle/>
          <a:p>
            <a:pPr>
              <a:defRPr sz="2400"/>
            </a:pPr>
            <a:r>
              <a:t>Weakened sense of belonging increases voluntary turnover risk.</a:t>
            </a:r>
          </a:p>
          <a:p>
            <a:pPr>
              <a:defRPr sz="2400"/>
            </a:pPr>
            <a:r>
              <a:t>Lack of structured integration undermines new employee productivity.</a:t>
            </a:r>
          </a:p>
          <a:p>
            <a:pPr>
              <a:defRPr sz="2400"/>
            </a:pPr>
            <a:r>
              <a:t>Operational waste drains focus and diminishes engagement.</a:t>
            </a:r>
          </a:p>
          <a:p>
            <a:pPr>
              <a:defRPr sz="2400"/>
            </a:pPr>
            <a:r>
              <a:t>Flexibility is no longer a perk; it is a core expectation.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Mandate Structural Policies for Hybrid Success</a:t>
            </a:r>
          </a:p>
        </p:txBody>
      </p:sp>
      <p:sp>
        <p:nvSpPr>
          <p:cNvPr id="3" name="Content Placeholder 2"/>
          <p:cNvSpPr>
            <a:spLocks noGrp="1"/>
          </p:cNvSpPr>
          <p:nvPr>
            <p:ph idx="1"/>
          </p:nvPr>
        </p:nvSpPr>
        <p:spPr/>
        <p:txBody>
          <a:bodyPr/>
          <a:lstStyle/>
          <a:p>
            <a:pPr>
              <a:defRPr sz="2400"/>
            </a:pPr>
            <a:r>
              <a:t>Implement mandatory structured onboarding for all new hires.</a:t>
            </a:r>
          </a:p>
          <a:p>
            <a:pPr>
              <a:defRPr sz="2400"/>
            </a:pPr>
            <a:r>
              <a:t>Establish team-level anchor days and flexible work charters.</a:t>
            </a:r>
          </a:p>
          <a:p>
            <a:pPr>
              <a:defRPr sz="2400"/>
            </a:pPr>
            <a:r>
              <a:t>Institute a company-wide meeting audit and focus time blocks.</a:t>
            </a:r>
          </a:p>
          <a:p>
            <a:pPr>
              <a:defRPr sz="2400"/>
            </a:pPr>
            <a:r>
              <a:t>Fund quarterly, mandatory in-person team connection events.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 Launch the EX Task Force Today</a:t>
            </a:r>
          </a:p>
        </p:txBody>
      </p:sp>
      <p:sp>
        <p:nvSpPr>
          <p:cNvPr id="3" name="Content Placeholder 2"/>
          <p:cNvSpPr>
            <a:spLocks noGrp="1"/>
          </p:cNvSpPr>
          <p:nvPr>
            <p:ph idx="1"/>
          </p:nvPr>
        </p:nvSpPr>
        <p:spPr/>
        <p:txBody>
          <a:bodyPr/>
          <a:lstStyle/>
          <a:p>
            <a:pPr>
              <a:defRPr sz="2400"/>
            </a:pPr>
            <a:r>
              <a:t>Approve funding for a cross-functional policy task force.</a:t>
            </a:r>
          </a:p>
          <a:p>
            <a:pPr>
              <a:defRPr sz="2400"/>
            </a:pPr>
            <a:r>
              <a:t>Pilot structured onboarding and anchor days in Q3.</a:t>
            </a:r>
          </a:p>
          <a:p>
            <a:pPr>
              <a:defRPr sz="2400"/>
            </a:pPr>
            <a:r>
              <a:t>Establish metrics to track isolation and engagement improvements.</a:t>
            </a:r>
          </a:p>
          <a:p>
            <a:pPr>
              <a:defRPr sz="2400"/>
            </a:pPr>
            <a:r>
              <a:t>Review and update the Employee Handbook by year-end.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